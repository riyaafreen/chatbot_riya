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Montserrat Bold" charset="1" panose="00000800000000000000"/>
      <p:regular r:id="rId23"/>
    </p:embeddedFont>
    <p:embeddedFont>
      <p:font typeface="Montserrat" charset="1" panose="00000500000000000000"/>
      <p:regular r:id="rId24"/>
    </p:embeddedFont>
    <p:embeddedFont>
      <p:font typeface="Montserrat Italics" charset="1" panose="00000500000000000000"/>
      <p:regular r:id="rId25"/>
    </p:embeddedFont>
    <p:embeddedFont>
      <p:font typeface="Canva Sans Bold" charset="1" panose="020B08030305010401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embeddings/oleObject1.bin" Type="http://schemas.openxmlformats.org/officeDocument/2006/relationships/oleObjec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AutoShape 2" id="2"/>
          <p:cNvSpPr/>
          <p:nvPr/>
        </p:nvSpPr>
        <p:spPr>
          <a:xfrm>
            <a:off x="1437847" y="8546503"/>
            <a:ext cx="9907521" cy="0"/>
          </a:xfrm>
          <a:prstGeom prst="line">
            <a:avLst/>
          </a:prstGeom>
          <a:ln cap="flat" w="9525">
            <a:solidFill>
              <a:srgbClr val="000000"/>
            </a:solidFill>
            <a:prstDash val="solid"/>
            <a:headEnd type="none" len="sm" w="sm"/>
            <a:tailEnd type="none" len="sm" w="sm"/>
          </a:ln>
        </p:spPr>
      </p:sp>
      <p:grpSp>
        <p:nvGrpSpPr>
          <p:cNvPr name="Group 3" id="3"/>
          <p:cNvGrpSpPr/>
          <p:nvPr/>
        </p:nvGrpSpPr>
        <p:grpSpPr>
          <a:xfrm rot="0">
            <a:off x="142580" y="604768"/>
            <a:ext cx="4415164" cy="441516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7C7C">
                <a:alpha val="12941"/>
              </a:srgbClr>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1284025" y="6696398"/>
            <a:ext cx="10061343" cy="0"/>
          </a:xfrm>
          <a:prstGeom prst="line">
            <a:avLst/>
          </a:prstGeom>
          <a:ln cap="flat" w="9525">
            <a:solidFill>
              <a:srgbClr val="000000"/>
            </a:solidFill>
            <a:prstDash val="solid"/>
            <a:headEnd type="none" len="sm" w="sm"/>
            <a:tailEnd type="none" len="sm" w="sm"/>
          </a:ln>
        </p:spPr>
      </p:sp>
      <p:grpSp>
        <p:nvGrpSpPr>
          <p:cNvPr name="Group 7" id="7"/>
          <p:cNvGrpSpPr/>
          <p:nvPr/>
        </p:nvGrpSpPr>
        <p:grpSpPr>
          <a:xfrm rot="0">
            <a:off x="12263629" y="6691636"/>
            <a:ext cx="951737" cy="95173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7C7C">
                <a:alpha val="12941"/>
              </a:srgbClr>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4179668" y="6172200"/>
            <a:ext cx="3764086" cy="4114800"/>
          </a:xfrm>
          <a:custGeom>
            <a:avLst/>
            <a:gdLst/>
            <a:ahLst/>
            <a:cxnLst/>
            <a:rect r="r" b="b" t="t" l="l"/>
            <a:pathLst>
              <a:path h="4114800" w="3764086">
                <a:moveTo>
                  <a:pt x="0" y="0"/>
                </a:moveTo>
                <a:lnTo>
                  <a:pt x="3764086" y="0"/>
                </a:lnTo>
                <a:lnTo>
                  <a:pt x="376408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1716511" y="2422068"/>
            <a:ext cx="15339411" cy="2111832"/>
          </a:xfrm>
          <a:prstGeom prst="rect">
            <a:avLst/>
          </a:prstGeom>
        </p:spPr>
        <p:txBody>
          <a:bodyPr anchor="t" rtlCol="false" tIns="0" lIns="0" bIns="0" rIns="0">
            <a:spAutoFit/>
          </a:bodyPr>
          <a:lstStyle/>
          <a:p>
            <a:pPr algn="l">
              <a:lnSpc>
                <a:spcPts val="8142"/>
              </a:lnSpc>
            </a:pPr>
            <a:r>
              <a:rPr lang="en-US" sz="8142" b="true">
                <a:solidFill>
                  <a:srgbClr val="000000"/>
                </a:solidFill>
                <a:latin typeface="Montserrat Bold"/>
                <a:ea typeface="Montserrat Bold"/>
                <a:cs typeface="Montserrat Bold"/>
                <a:sym typeface="Montserrat Bold"/>
              </a:rPr>
              <a:t>AI-POWERED CHAT SYSTEMS USING GROQ API</a:t>
            </a:r>
          </a:p>
        </p:txBody>
      </p:sp>
      <p:sp>
        <p:nvSpPr>
          <p:cNvPr name="TextBox 12" id="12"/>
          <p:cNvSpPr txBox="true"/>
          <p:nvPr/>
        </p:nvSpPr>
        <p:spPr>
          <a:xfrm rot="0">
            <a:off x="1284025" y="6906712"/>
            <a:ext cx="3141945" cy="473961"/>
          </a:xfrm>
          <a:prstGeom prst="rect">
            <a:avLst/>
          </a:prstGeom>
        </p:spPr>
        <p:txBody>
          <a:bodyPr anchor="t" rtlCol="false" tIns="0" lIns="0" bIns="0" rIns="0">
            <a:spAutoFit/>
          </a:bodyPr>
          <a:lstStyle/>
          <a:p>
            <a:pPr algn="l">
              <a:lnSpc>
                <a:spcPts val="3993"/>
              </a:lnSpc>
            </a:pPr>
            <a:r>
              <a:rPr lang="en-US" sz="2852" b="true">
                <a:solidFill>
                  <a:srgbClr val="000000"/>
                </a:solidFill>
                <a:latin typeface="Montserrat Bold"/>
                <a:ea typeface="Montserrat Bold"/>
                <a:cs typeface="Montserrat Bold"/>
                <a:sym typeface="Montserrat Bold"/>
              </a:rPr>
              <a:t>Presentation By:</a:t>
            </a:r>
          </a:p>
        </p:txBody>
      </p:sp>
      <p:sp>
        <p:nvSpPr>
          <p:cNvPr name="TextBox 13" id="13"/>
          <p:cNvSpPr txBox="true"/>
          <p:nvPr/>
        </p:nvSpPr>
        <p:spPr>
          <a:xfrm rot="0">
            <a:off x="2066846" y="7590223"/>
            <a:ext cx="4981797" cy="479999"/>
          </a:xfrm>
          <a:prstGeom prst="rect">
            <a:avLst/>
          </a:prstGeom>
        </p:spPr>
        <p:txBody>
          <a:bodyPr anchor="t" rtlCol="false" tIns="0" lIns="0" bIns="0" rIns="0">
            <a:spAutoFit/>
          </a:bodyPr>
          <a:lstStyle/>
          <a:p>
            <a:pPr algn="l">
              <a:lnSpc>
                <a:spcPts val="3993"/>
              </a:lnSpc>
            </a:pPr>
            <a:r>
              <a:rPr lang="en-US" sz="2852">
                <a:solidFill>
                  <a:srgbClr val="000000"/>
                </a:solidFill>
                <a:latin typeface="Montserrat"/>
                <a:ea typeface="Montserrat"/>
                <a:cs typeface="Montserrat"/>
                <a:sym typeface="Montserrat"/>
              </a:rPr>
              <a:t>Fathimath Riya Afreen M A</a:t>
            </a:r>
          </a:p>
        </p:txBody>
      </p:sp>
      <p:sp>
        <p:nvSpPr>
          <p:cNvPr name="TextBox 14" id="14"/>
          <p:cNvSpPr txBox="true"/>
          <p:nvPr/>
        </p:nvSpPr>
        <p:spPr>
          <a:xfrm rot="0">
            <a:off x="7048643" y="9750433"/>
            <a:ext cx="7131025" cy="317054"/>
          </a:xfrm>
          <a:prstGeom prst="rect">
            <a:avLst/>
          </a:prstGeom>
        </p:spPr>
        <p:txBody>
          <a:bodyPr anchor="t" rtlCol="false" tIns="0" lIns="0" bIns="0" rIns="0">
            <a:spAutoFit/>
          </a:bodyPr>
          <a:lstStyle/>
          <a:p>
            <a:pPr algn="l">
              <a:lnSpc>
                <a:spcPts val="2357"/>
              </a:lnSpc>
            </a:pPr>
            <a:r>
              <a:rPr lang="en-US" sz="2357" i="true">
                <a:solidFill>
                  <a:srgbClr val="000000"/>
                </a:solidFill>
                <a:latin typeface="Montserrat Italics"/>
                <a:ea typeface="Montserrat Italics"/>
                <a:cs typeface="Montserrat Italics"/>
                <a:sym typeface="Montserrat Italics"/>
              </a:rPr>
              <a:t>Reflections Info Systems Pvt Ltd.</a:t>
            </a:r>
          </a:p>
        </p:txBody>
      </p:sp>
      <p:grpSp>
        <p:nvGrpSpPr>
          <p:cNvPr name="Group 15" id="15"/>
          <p:cNvGrpSpPr/>
          <p:nvPr/>
        </p:nvGrpSpPr>
        <p:grpSpPr>
          <a:xfrm rot="0">
            <a:off x="16323754" y="1028700"/>
            <a:ext cx="732168" cy="73216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6566668" y="1214126"/>
            <a:ext cx="24634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01</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grpSp>
        <p:nvGrpSpPr>
          <p:cNvPr name="Group 2" id="2"/>
          <p:cNvGrpSpPr/>
          <p:nvPr/>
        </p:nvGrpSpPr>
        <p:grpSpPr>
          <a:xfrm rot="0">
            <a:off x="13363505" y="-1031231"/>
            <a:ext cx="6436852" cy="643685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7C7C">
                <a:alpha val="12941"/>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4687957" y="9643841"/>
            <a:ext cx="9907521" cy="0"/>
          </a:xfrm>
          <a:prstGeom prst="line">
            <a:avLst/>
          </a:prstGeom>
          <a:ln cap="flat" w="9525">
            <a:solidFill>
              <a:srgbClr val="000000"/>
            </a:solidFill>
            <a:prstDash val="solid"/>
            <a:headEnd type="none" len="sm" w="sm"/>
            <a:tailEnd type="none" len="sm" w="sm"/>
          </a:ln>
        </p:spPr>
      </p:sp>
      <p:grpSp>
        <p:nvGrpSpPr>
          <p:cNvPr name="Group 6" id="6"/>
          <p:cNvGrpSpPr/>
          <p:nvPr/>
        </p:nvGrpSpPr>
        <p:grpSpPr>
          <a:xfrm rot="0">
            <a:off x="10895036" y="1294752"/>
            <a:ext cx="720868" cy="7208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7C7C">
                <a:alpha val="12941"/>
              </a:srgbClr>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4494577" y="1422120"/>
            <a:ext cx="9298845" cy="788603"/>
          </a:xfrm>
          <a:prstGeom prst="rect">
            <a:avLst/>
          </a:prstGeom>
        </p:spPr>
        <p:txBody>
          <a:bodyPr anchor="t" rtlCol="false" tIns="0" lIns="0" bIns="0" rIns="0">
            <a:spAutoFit/>
          </a:bodyPr>
          <a:lstStyle/>
          <a:p>
            <a:pPr algn="l">
              <a:lnSpc>
                <a:spcPts val="5922"/>
              </a:lnSpc>
            </a:pPr>
            <a:r>
              <a:rPr lang="en-US" sz="5922" b="true">
                <a:solidFill>
                  <a:srgbClr val="000000"/>
                </a:solidFill>
                <a:latin typeface="Montserrat Bold"/>
                <a:ea typeface="Montserrat Bold"/>
                <a:cs typeface="Montserrat Bold"/>
                <a:sym typeface="Montserrat Bold"/>
              </a:rPr>
              <a:t>PROJECT OVERVIEW</a:t>
            </a:r>
          </a:p>
        </p:txBody>
      </p:sp>
      <p:sp>
        <p:nvSpPr>
          <p:cNvPr name="TextBox 10" id="10"/>
          <p:cNvSpPr txBox="true"/>
          <p:nvPr/>
        </p:nvSpPr>
        <p:spPr>
          <a:xfrm rot="0">
            <a:off x="1806422" y="3086807"/>
            <a:ext cx="12297830" cy="6305278"/>
          </a:xfrm>
          <a:prstGeom prst="rect">
            <a:avLst/>
          </a:prstGeom>
        </p:spPr>
        <p:txBody>
          <a:bodyPr anchor="t" rtlCol="false" tIns="0" lIns="0" bIns="0" rIns="0">
            <a:spAutoFit/>
          </a:bodyPr>
          <a:lstStyle/>
          <a:p>
            <a:pPr algn="just">
              <a:lnSpc>
                <a:spcPts val="3364"/>
              </a:lnSpc>
            </a:pPr>
            <a:r>
              <a:rPr lang="en-US" sz="3364">
                <a:solidFill>
                  <a:srgbClr val="000000"/>
                </a:solidFill>
                <a:latin typeface="Montserrat"/>
                <a:ea typeface="Montserrat"/>
                <a:cs typeface="Montserrat"/>
                <a:sym typeface="Montserrat"/>
              </a:rPr>
              <a:t>Project 1: </a:t>
            </a:r>
            <a:r>
              <a:rPr lang="en-US" sz="3364" b="true">
                <a:solidFill>
                  <a:srgbClr val="000000"/>
                </a:solidFill>
                <a:latin typeface="Montserrat Bold"/>
                <a:ea typeface="Montserrat Bold"/>
                <a:cs typeface="Montserrat Bold"/>
                <a:sym typeface="Montserrat Bold"/>
              </a:rPr>
              <a:t>AI Chatbot using Groq API</a:t>
            </a:r>
          </a:p>
          <a:p>
            <a:pPr algn="just">
              <a:lnSpc>
                <a:spcPts val="3364"/>
              </a:lnSpc>
            </a:pPr>
          </a:p>
          <a:p>
            <a:pPr algn="just" marL="726353" indent="-363177" lvl="1">
              <a:lnSpc>
                <a:spcPts val="3364"/>
              </a:lnSpc>
              <a:buFont typeface="Arial"/>
              <a:buChar char="•"/>
            </a:pPr>
            <a:r>
              <a:rPr lang="en-US" sz="3364">
                <a:solidFill>
                  <a:srgbClr val="000000"/>
                </a:solidFill>
                <a:latin typeface="Montserrat"/>
                <a:ea typeface="Montserrat"/>
                <a:cs typeface="Montserrat"/>
                <a:sym typeface="Montserrat"/>
              </a:rPr>
              <a:t>Built a conversational AI chatbot using Groq LLMs</a:t>
            </a:r>
          </a:p>
          <a:p>
            <a:pPr algn="just">
              <a:lnSpc>
                <a:spcPts val="3364"/>
              </a:lnSpc>
            </a:pPr>
          </a:p>
          <a:p>
            <a:pPr algn="just" marL="726353" indent="-363177" lvl="1">
              <a:lnSpc>
                <a:spcPts val="3364"/>
              </a:lnSpc>
              <a:buFont typeface="Arial"/>
              <a:buChar char="•"/>
            </a:pPr>
            <a:r>
              <a:rPr lang="en-US" sz="3364">
                <a:solidFill>
                  <a:srgbClr val="000000"/>
                </a:solidFill>
                <a:latin typeface="Montserrat"/>
                <a:ea typeface="Montserrat"/>
                <a:cs typeface="Montserrat"/>
                <a:sym typeface="Montserrat"/>
              </a:rPr>
              <a:t>Supports real-time, multi-turn interactions with users.</a:t>
            </a:r>
          </a:p>
          <a:p>
            <a:pPr algn="just">
              <a:lnSpc>
                <a:spcPts val="3364"/>
              </a:lnSpc>
            </a:pPr>
          </a:p>
          <a:p>
            <a:pPr algn="just">
              <a:lnSpc>
                <a:spcPts val="3364"/>
              </a:lnSpc>
            </a:pPr>
            <a:r>
              <a:rPr lang="en-US" sz="3364">
                <a:solidFill>
                  <a:srgbClr val="000000"/>
                </a:solidFill>
                <a:latin typeface="Montserrat"/>
                <a:ea typeface="Montserrat"/>
                <a:cs typeface="Montserrat"/>
                <a:sym typeface="Montserrat"/>
              </a:rPr>
              <a:t>Project 2: </a:t>
            </a:r>
            <a:r>
              <a:rPr lang="en-US" sz="3364" b="true">
                <a:solidFill>
                  <a:srgbClr val="000000"/>
                </a:solidFill>
                <a:latin typeface="Montserrat Bold"/>
                <a:ea typeface="Montserrat Bold"/>
                <a:cs typeface="Montserrat Bold"/>
                <a:sym typeface="Montserrat Bold"/>
              </a:rPr>
              <a:t>RAG AI Chatbot</a:t>
            </a:r>
          </a:p>
          <a:p>
            <a:pPr algn="just">
              <a:lnSpc>
                <a:spcPts val="3364"/>
              </a:lnSpc>
            </a:pPr>
          </a:p>
          <a:p>
            <a:pPr algn="just" marL="726353" indent="-363177" lvl="1">
              <a:lnSpc>
                <a:spcPts val="3364"/>
              </a:lnSpc>
              <a:buFont typeface="Arial"/>
              <a:buChar char="•"/>
            </a:pPr>
            <a:r>
              <a:rPr lang="en-US" sz="3364">
                <a:solidFill>
                  <a:srgbClr val="000000"/>
                </a:solidFill>
                <a:latin typeface="Montserrat"/>
                <a:ea typeface="Montserrat"/>
                <a:cs typeface="Montserrat"/>
                <a:sym typeface="Montserrat"/>
              </a:rPr>
              <a:t>Built a RAG chatbot for PDF-based question answering</a:t>
            </a:r>
          </a:p>
          <a:p>
            <a:pPr algn="just">
              <a:lnSpc>
                <a:spcPts val="3364"/>
              </a:lnSpc>
            </a:pPr>
          </a:p>
          <a:p>
            <a:pPr algn="just" marL="726353" indent="-363177" lvl="1">
              <a:lnSpc>
                <a:spcPts val="3364"/>
              </a:lnSpc>
              <a:buFont typeface="Arial"/>
              <a:buChar char="•"/>
            </a:pPr>
            <a:r>
              <a:rPr lang="en-US" sz="3364">
                <a:solidFill>
                  <a:srgbClr val="000000"/>
                </a:solidFill>
                <a:latin typeface="Montserrat"/>
                <a:ea typeface="Montserrat"/>
                <a:cs typeface="Montserrat"/>
                <a:sym typeface="Montserrat"/>
              </a:rPr>
              <a:t>Retrieves relevant information from uploaded documents before generating responses.</a:t>
            </a:r>
          </a:p>
          <a:p>
            <a:pPr algn="just">
              <a:lnSpc>
                <a:spcPts val="3364"/>
              </a:lnSpc>
            </a:pPr>
          </a:p>
          <a:p>
            <a:pPr algn="just">
              <a:lnSpc>
                <a:spcPts val="3364"/>
              </a:lnSpc>
            </a:pPr>
          </a:p>
        </p:txBody>
      </p:sp>
      <p:grpSp>
        <p:nvGrpSpPr>
          <p:cNvPr name="Group 11" id="11"/>
          <p:cNvGrpSpPr/>
          <p:nvPr/>
        </p:nvGrpSpPr>
        <p:grpSpPr>
          <a:xfrm rot="0">
            <a:off x="16791527" y="381800"/>
            <a:ext cx="804692" cy="80469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13" id="13"/>
            <p:cNvSpPr txBox="true"/>
            <p:nvPr/>
          </p:nvSpPr>
          <p:spPr>
            <a:xfrm>
              <a:off x="76200" y="47625"/>
              <a:ext cx="660400" cy="688975"/>
            </a:xfrm>
            <a:prstGeom prst="rect">
              <a:avLst/>
            </a:prstGeom>
          </p:spPr>
          <p:txBody>
            <a:bodyPr anchor="ctr" rtlCol="false" tIns="50800" lIns="50800" bIns="50800" rIns="50800"/>
            <a:lstStyle/>
            <a:p>
              <a:pPr algn="ctr">
                <a:lnSpc>
                  <a:spcPts val="2380"/>
                </a:lnSpc>
              </a:pPr>
              <a:r>
                <a:rPr lang="en-US" sz="1700">
                  <a:solidFill>
                    <a:srgbClr val="FFFFFF"/>
                  </a:solidFill>
                  <a:latin typeface="Montserrat"/>
                  <a:ea typeface="Montserrat"/>
                  <a:cs typeface="Montserrat"/>
                  <a:sym typeface="Montserrat"/>
                </a:rPr>
                <a:t>02</a:t>
              </a:r>
            </a:p>
          </p:txBody>
        </p:sp>
      </p:grpSp>
      <p:sp>
        <p:nvSpPr>
          <p:cNvPr name="TextBox 14" id="14"/>
          <p:cNvSpPr txBox="true"/>
          <p:nvPr/>
        </p:nvSpPr>
        <p:spPr>
          <a:xfrm rot="0">
            <a:off x="1547800" y="1811659"/>
            <a:ext cx="517244" cy="334367"/>
          </a:xfrm>
          <a:prstGeom prst="rect">
            <a:avLst/>
          </a:prstGeom>
        </p:spPr>
        <p:txBody>
          <a:bodyPr anchor="t" rtlCol="false" tIns="0" lIns="0" bIns="0" rIns="0">
            <a:spAutoFit/>
          </a:bodyPr>
          <a:lstStyle/>
          <a:p>
            <a:pPr algn="ctr">
              <a:lnSpc>
                <a:spcPts val="2547"/>
              </a:lnSpc>
            </a:pPr>
            <a:r>
              <a:rPr lang="en-US" sz="2547">
                <a:solidFill>
                  <a:srgbClr val="F6F4F1"/>
                </a:solidFill>
                <a:latin typeface="Montserrat"/>
                <a:ea typeface="Montserrat"/>
                <a:cs typeface="Montserrat"/>
                <a:sym typeface="Montserrat"/>
              </a:rPr>
              <a:t>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AutoShape 2" id="2"/>
          <p:cNvSpPr/>
          <p:nvPr/>
        </p:nvSpPr>
        <p:spPr>
          <a:xfrm>
            <a:off x="1378380" y="9263062"/>
            <a:ext cx="13083622"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true" rot="5400000">
            <a:off x="13493458" y="1583900"/>
            <a:ext cx="10688896" cy="7521096"/>
          </a:xfrm>
          <a:custGeom>
            <a:avLst/>
            <a:gdLst/>
            <a:ahLst/>
            <a:cxnLst/>
            <a:rect r="r" b="b" t="t" l="l"/>
            <a:pathLst>
              <a:path h="7521096" w="10688896">
                <a:moveTo>
                  <a:pt x="0" y="7521096"/>
                </a:moveTo>
                <a:lnTo>
                  <a:pt x="10688897" y="7521096"/>
                </a:lnTo>
                <a:lnTo>
                  <a:pt x="10688897" y="0"/>
                </a:lnTo>
                <a:lnTo>
                  <a:pt x="0" y="0"/>
                </a:lnTo>
                <a:lnTo>
                  <a:pt x="0" y="7521096"/>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181637" y="-1378235"/>
            <a:ext cx="4765297" cy="476529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alpha val="3922"/>
              </a:srgbClr>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378380" y="1440678"/>
            <a:ext cx="13349901" cy="1477534"/>
          </a:xfrm>
          <a:prstGeom prst="rect">
            <a:avLst/>
          </a:prstGeom>
        </p:spPr>
        <p:txBody>
          <a:bodyPr anchor="t" rtlCol="false" tIns="0" lIns="0" bIns="0" rIns="0">
            <a:spAutoFit/>
          </a:bodyPr>
          <a:lstStyle/>
          <a:p>
            <a:pPr algn="l">
              <a:lnSpc>
                <a:spcPts val="5570"/>
              </a:lnSpc>
            </a:pPr>
            <a:r>
              <a:rPr lang="en-US" sz="5570">
                <a:solidFill>
                  <a:srgbClr val="000000"/>
                </a:solidFill>
                <a:latin typeface="Montserrat"/>
                <a:ea typeface="Montserrat"/>
                <a:cs typeface="Montserrat"/>
                <a:sym typeface="Montserrat"/>
              </a:rPr>
              <a:t>TASK 1 :</a:t>
            </a:r>
          </a:p>
          <a:p>
            <a:pPr algn="ctr">
              <a:lnSpc>
                <a:spcPts val="5770"/>
              </a:lnSpc>
            </a:pPr>
            <a:r>
              <a:rPr lang="en-US" sz="5770">
                <a:solidFill>
                  <a:srgbClr val="000000"/>
                </a:solidFill>
                <a:latin typeface="Montserrat"/>
                <a:ea typeface="Montserrat"/>
                <a:cs typeface="Montserrat"/>
                <a:sym typeface="Montserrat"/>
              </a:rPr>
              <a:t>        </a:t>
            </a:r>
            <a:r>
              <a:rPr lang="en-US" b="true" sz="5770">
                <a:solidFill>
                  <a:srgbClr val="000000"/>
                </a:solidFill>
                <a:latin typeface="Montserrat Bold"/>
                <a:ea typeface="Montserrat Bold"/>
                <a:cs typeface="Montserrat Bold"/>
                <a:sym typeface="Montserrat Bold"/>
              </a:rPr>
              <a:t>AI CHATBOT</a:t>
            </a:r>
          </a:p>
        </p:txBody>
      </p:sp>
      <p:grpSp>
        <p:nvGrpSpPr>
          <p:cNvPr name="Group 8" id="8"/>
          <p:cNvGrpSpPr/>
          <p:nvPr/>
        </p:nvGrpSpPr>
        <p:grpSpPr>
          <a:xfrm rot="0">
            <a:off x="16791304" y="698084"/>
            <a:ext cx="935993" cy="93599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6967164" y="1007484"/>
            <a:ext cx="584272" cy="374343"/>
          </a:xfrm>
          <a:prstGeom prst="rect">
            <a:avLst/>
          </a:prstGeom>
        </p:spPr>
        <p:txBody>
          <a:bodyPr anchor="t" rtlCol="false" tIns="0" lIns="0" bIns="0" rIns="0">
            <a:spAutoFit/>
          </a:bodyPr>
          <a:lstStyle/>
          <a:p>
            <a:pPr algn="ctr">
              <a:lnSpc>
                <a:spcPts val="2877"/>
              </a:lnSpc>
            </a:pPr>
            <a:r>
              <a:rPr lang="en-US" sz="2877">
                <a:solidFill>
                  <a:srgbClr val="F6F4F1"/>
                </a:solidFill>
                <a:latin typeface="Montserrat"/>
                <a:ea typeface="Montserrat"/>
                <a:cs typeface="Montserrat"/>
                <a:sym typeface="Montserrat"/>
              </a:rPr>
              <a:t>03</a:t>
            </a:r>
          </a:p>
        </p:txBody>
      </p:sp>
      <p:sp>
        <p:nvSpPr>
          <p:cNvPr name="TextBox 12" id="12"/>
          <p:cNvSpPr txBox="true"/>
          <p:nvPr/>
        </p:nvSpPr>
        <p:spPr>
          <a:xfrm rot="0">
            <a:off x="1028700" y="3921786"/>
            <a:ext cx="16941332" cy="5889144"/>
          </a:xfrm>
          <a:prstGeom prst="rect">
            <a:avLst/>
          </a:prstGeom>
        </p:spPr>
        <p:txBody>
          <a:bodyPr anchor="t" rtlCol="false" tIns="0" lIns="0" bIns="0" rIns="0">
            <a:spAutoFit/>
          </a:bodyPr>
          <a:lstStyle/>
          <a:p>
            <a:pPr algn="l">
              <a:lnSpc>
                <a:spcPts val="3378"/>
              </a:lnSpc>
            </a:pPr>
            <a:r>
              <a:rPr lang="en-US" sz="2412">
                <a:solidFill>
                  <a:srgbClr val="000000"/>
                </a:solidFill>
                <a:latin typeface="Montserrat"/>
                <a:ea typeface="Montserrat"/>
                <a:cs typeface="Montserrat"/>
                <a:sym typeface="Montserrat"/>
              </a:rPr>
              <a:t>Developed an </a:t>
            </a:r>
            <a:r>
              <a:rPr lang="en-US" sz="2412">
                <a:solidFill>
                  <a:srgbClr val="000000"/>
                </a:solidFill>
                <a:latin typeface="Montserrat"/>
                <a:ea typeface="Montserrat"/>
                <a:cs typeface="Montserrat"/>
                <a:sym typeface="Montserrat"/>
              </a:rPr>
              <a:t>AI-powered chatbot using the Groq API that interacts with users in real time and generates intelligent responses. </a:t>
            </a:r>
          </a:p>
          <a:p>
            <a:pPr algn="l">
              <a:lnSpc>
                <a:spcPts val="3378"/>
              </a:lnSpc>
            </a:pPr>
          </a:p>
          <a:p>
            <a:pPr algn="l">
              <a:lnSpc>
                <a:spcPts val="3378"/>
              </a:lnSpc>
            </a:pPr>
          </a:p>
          <a:p>
            <a:pPr algn="l">
              <a:lnSpc>
                <a:spcPts val="3378"/>
              </a:lnSpc>
            </a:pPr>
          </a:p>
          <a:p>
            <a:pPr algn="l">
              <a:lnSpc>
                <a:spcPts val="3378"/>
              </a:lnSpc>
            </a:pPr>
            <a:r>
              <a:rPr lang="en-US" sz="2412">
                <a:solidFill>
                  <a:srgbClr val="000000"/>
                </a:solidFill>
                <a:latin typeface="Montserrat"/>
                <a:ea typeface="Montserrat"/>
                <a:cs typeface="Montserrat"/>
                <a:sym typeface="Montserrat"/>
              </a:rPr>
              <a:t>Functions :</a:t>
            </a:r>
          </a:p>
          <a:p>
            <a:pPr algn="l">
              <a:lnSpc>
                <a:spcPts val="3378"/>
              </a:lnSpc>
            </a:pPr>
          </a:p>
          <a:p>
            <a:pPr algn="l" marL="520946" indent="-260473" lvl="1">
              <a:lnSpc>
                <a:spcPts val="3378"/>
              </a:lnSpc>
              <a:buFont typeface="Arial"/>
              <a:buChar char="•"/>
            </a:pPr>
            <a:r>
              <a:rPr lang="en-US" sz="2412">
                <a:solidFill>
                  <a:srgbClr val="000000"/>
                </a:solidFill>
                <a:latin typeface="Montserrat"/>
                <a:ea typeface="Montserrat"/>
                <a:cs typeface="Montserrat"/>
                <a:sym typeface="Montserrat"/>
              </a:rPr>
              <a:t>Enables real-time conversations between users and AI.</a:t>
            </a:r>
          </a:p>
          <a:p>
            <a:pPr algn="l" marL="520946" indent="-260473" lvl="1">
              <a:lnSpc>
                <a:spcPts val="3378"/>
              </a:lnSpc>
              <a:buFont typeface="Arial"/>
              <a:buChar char="•"/>
            </a:pPr>
            <a:r>
              <a:rPr lang="en-US" sz="2412">
                <a:solidFill>
                  <a:srgbClr val="000000"/>
                </a:solidFill>
                <a:latin typeface="Montserrat"/>
                <a:ea typeface="Montserrat"/>
                <a:cs typeface="Montserrat"/>
                <a:sym typeface="Montserrat"/>
              </a:rPr>
              <a:t>Generates intelligent  responses to user queries.</a:t>
            </a:r>
          </a:p>
          <a:p>
            <a:pPr algn="l" marL="520946" indent="-260473" lvl="1">
              <a:lnSpc>
                <a:spcPts val="3378"/>
              </a:lnSpc>
              <a:buFont typeface="Arial"/>
              <a:buChar char="•"/>
            </a:pPr>
            <a:r>
              <a:rPr lang="en-US" sz="2412">
                <a:solidFill>
                  <a:srgbClr val="000000"/>
                </a:solidFill>
                <a:latin typeface="Montserrat"/>
                <a:ea typeface="Montserrat"/>
                <a:cs typeface="Montserrat"/>
                <a:sym typeface="Montserrat"/>
              </a:rPr>
              <a:t>Supports customizable communication styles .</a:t>
            </a:r>
          </a:p>
          <a:p>
            <a:pPr algn="l">
              <a:lnSpc>
                <a:spcPts val="3378"/>
              </a:lnSpc>
            </a:pPr>
          </a:p>
          <a:p>
            <a:pPr algn="l">
              <a:lnSpc>
                <a:spcPts val="3378"/>
              </a:lnSpc>
            </a:pPr>
          </a:p>
          <a:p>
            <a:pPr algn="l">
              <a:lnSpc>
                <a:spcPts val="3378"/>
              </a:lnSpc>
            </a:pPr>
          </a:p>
          <a:p>
            <a:pPr algn="l">
              <a:lnSpc>
                <a:spcPts val="3378"/>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2734641" y="1459984"/>
            <a:ext cx="13681151" cy="6689917"/>
          </a:xfrm>
          <a:prstGeom prst="rect">
            <a:avLst/>
          </a:prstGeom>
        </p:spPr>
        <p:txBody>
          <a:bodyPr anchor="t" rtlCol="false" tIns="0" lIns="0" bIns="0" rIns="0">
            <a:spAutoFit/>
          </a:bodyPr>
          <a:lstStyle/>
          <a:p>
            <a:pPr algn="ctr">
              <a:lnSpc>
                <a:spcPts val="5739"/>
              </a:lnSpc>
            </a:pPr>
            <a:r>
              <a:rPr lang="en-US" sz="4099" b="true">
                <a:solidFill>
                  <a:srgbClr val="000000"/>
                </a:solidFill>
                <a:latin typeface="Montserrat Bold"/>
                <a:ea typeface="Montserrat Bold"/>
                <a:cs typeface="Montserrat Bold"/>
                <a:sym typeface="Montserrat Bold"/>
              </a:rPr>
              <a:t>UNDERSTAND THE TERMS </a:t>
            </a:r>
          </a:p>
          <a:p>
            <a:pPr algn="ctr">
              <a:lnSpc>
                <a:spcPts val="4059"/>
              </a:lnSpc>
            </a:pPr>
          </a:p>
          <a:p>
            <a:pPr algn="ctr">
              <a:lnSpc>
                <a:spcPts val="4059"/>
              </a:lnSpc>
            </a:pPr>
          </a:p>
          <a:p>
            <a:pPr algn="ctr">
              <a:lnSpc>
                <a:spcPts val="4059"/>
              </a:lnSpc>
            </a:pPr>
          </a:p>
          <a:p>
            <a:pPr algn="ctr">
              <a:lnSpc>
                <a:spcPts val="4059"/>
              </a:lnSpc>
            </a:pPr>
          </a:p>
          <a:p>
            <a:pPr algn="l" marL="626104" indent="-313052" lvl="1">
              <a:lnSpc>
                <a:spcPts val="5306"/>
              </a:lnSpc>
              <a:buFont typeface="Arial"/>
              <a:buChar char="•"/>
            </a:pPr>
            <a:r>
              <a:rPr lang="en-US" sz="2899">
                <a:solidFill>
                  <a:srgbClr val="000000"/>
                </a:solidFill>
                <a:latin typeface="Montserrat"/>
                <a:ea typeface="Montserrat"/>
                <a:cs typeface="Montserrat"/>
                <a:sym typeface="Montserrat"/>
              </a:rPr>
              <a:t>Semantic Search → Searches based on meaning, not just keywords</a:t>
            </a:r>
          </a:p>
          <a:p>
            <a:pPr algn="l" marL="626104" indent="-313052" lvl="1">
              <a:lnSpc>
                <a:spcPts val="5306"/>
              </a:lnSpc>
              <a:buFont typeface="Arial"/>
              <a:buChar char="•"/>
            </a:pPr>
            <a:r>
              <a:rPr lang="en-US" sz="2899">
                <a:solidFill>
                  <a:srgbClr val="000000"/>
                </a:solidFill>
                <a:latin typeface="Montserrat"/>
                <a:ea typeface="Montserrat"/>
                <a:cs typeface="Montserrat"/>
                <a:sym typeface="Montserrat"/>
              </a:rPr>
              <a:t>Embeddings → Converts text into a format the AI can understand and compare</a:t>
            </a:r>
          </a:p>
          <a:p>
            <a:pPr algn="l" marL="626104" indent="-313052" lvl="1">
              <a:lnSpc>
                <a:spcPts val="5306"/>
              </a:lnSpc>
              <a:buFont typeface="Arial"/>
              <a:buChar char="•"/>
            </a:pPr>
            <a:r>
              <a:rPr lang="en-US" sz="2899">
                <a:solidFill>
                  <a:srgbClr val="000000"/>
                </a:solidFill>
                <a:latin typeface="Montserrat"/>
                <a:ea typeface="Montserrat"/>
                <a:cs typeface="Montserrat"/>
                <a:sym typeface="Montserrat"/>
              </a:rPr>
              <a:t>Vector Database (ChromaDB) → Stores document information for quick searching</a:t>
            </a:r>
          </a:p>
          <a:p>
            <a:pPr algn="l" marL="626104" indent="-313052" lvl="1">
              <a:lnSpc>
                <a:spcPts val="5306"/>
              </a:lnSpc>
              <a:buFont typeface="Arial"/>
              <a:buChar char="•"/>
            </a:pPr>
            <a:r>
              <a:rPr lang="en-US" sz="2899">
                <a:solidFill>
                  <a:srgbClr val="000000"/>
                </a:solidFill>
                <a:latin typeface="Montserrat"/>
                <a:ea typeface="Montserrat"/>
                <a:cs typeface="Montserrat"/>
                <a:sym typeface="Montserrat"/>
              </a:rPr>
              <a:t>RAG → A system that searches documents before generating answers</a:t>
            </a:r>
          </a:p>
        </p:txBody>
      </p:sp>
      <p:grpSp>
        <p:nvGrpSpPr>
          <p:cNvPr name="Group 3" id="3"/>
          <p:cNvGrpSpPr/>
          <p:nvPr/>
        </p:nvGrpSpPr>
        <p:grpSpPr>
          <a:xfrm rot="0">
            <a:off x="16730910" y="637690"/>
            <a:ext cx="1056780" cy="105678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r>
                <a:rPr lang="en-US" sz="1899">
                  <a:solidFill>
                    <a:srgbClr val="FFFFFF"/>
                  </a:solidFill>
                  <a:latin typeface="Montserrat"/>
                  <a:ea typeface="Montserrat"/>
                  <a:cs typeface="Montserrat"/>
                  <a:sym typeface="Montserrat"/>
                </a:rPr>
                <a:t>04</a:t>
              </a: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3687337" y="1184936"/>
            <a:ext cx="9238158" cy="859994"/>
          </a:xfrm>
          <a:prstGeom prst="rect">
            <a:avLst/>
          </a:prstGeom>
        </p:spPr>
        <p:txBody>
          <a:bodyPr anchor="t" rtlCol="false" tIns="0" lIns="0" bIns="0" rIns="0">
            <a:spAutoFit/>
          </a:bodyPr>
          <a:lstStyle/>
          <a:p>
            <a:pPr algn="ctr">
              <a:lnSpc>
                <a:spcPts val="6483"/>
              </a:lnSpc>
            </a:pPr>
            <a:r>
              <a:rPr lang="en-US" b="true" sz="6483">
                <a:solidFill>
                  <a:srgbClr val="000000"/>
                </a:solidFill>
                <a:latin typeface="Montserrat Bold"/>
                <a:ea typeface="Montserrat Bold"/>
                <a:cs typeface="Montserrat Bold"/>
                <a:sym typeface="Montserrat Bold"/>
              </a:rPr>
              <a:t>BUSINESS PURPOSE</a:t>
            </a:r>
          </a:p>
        </p:txBody>
      </p:sp>
      <p:grpSp>
        <p:nvGrpSpPr>
          <p:cNvPr name="Group 3" id="3"/>
          <p:cNvGrpSpPr/>
          <p:nvPr/>
        </p:nvGrpSpPr>
        <p:grpSpPr>
          <a:xfrm rot="0">
            <a:off x="1205924" y="2805527"/>
            <a:ext cx="6577551" cy="2021115"/>
            <a:chOff x="0" y="0"/>
            <a:chExt cx="2002323" cy="615263"/>
          </a:xfrm>
        </p:grpSpPr>
        <p:sp>
          <p:nvSpPr>
            <p:cNvPr name="Freeform 4" id="4"/>
            <p:cNvSpPr/>
            <p:nvPr/>
          </p:nvSpPr>
          <p:spPr>
            <a:xfrm flipH="false" flipV="false" rot="0">
              <a:off x="0" y="0"/>
              <a:ext cx="2002324" cy="615263"/>
            </a:xfrm>
            <a:custGeom>
              <a:avLst/>
              <a:gdLst/>
              <a:ahLst/>
              <a:cxnLst/>
              <a:rect r="r" b="b" t="t" l="l"/>
              <a:pathLst>
                <a:path h="615263" w="2002324">
                  <a:moveTo>
                    <a:pt x="63559" y="0"/>
                  </a:moveTo>
                  <a:lnTo>
                    <a:pt x="1938764" y="0"/>
                  </a:lnTo>
                  <a:cubicBezTo>
                    <a:pt x="1973867" y="0"/>
                    <a:pt x="2002324" y="28456"/>
                    <a:pt x="2002324" y="63559"/>
                  </a:cubicBezTo>
                  <a:lnTo>
                    <a:pt x="2002324" y="551704"/>
                  </a:lnTo>
                  <a:cubicBezTo>
                    <a:pt x="2002324" y="568561"/>
                    <a:pt x="1995627" y="584728"/>
                    <a:pt x="1983707" y="596647"/>
                  </a:cubicBezTo>
                  <a:cubicBezTo>
                    <a:pt x="1971788" y="608567"/>
                    <a:pt x="1955621" y="615263"/>
                    <a:pt x="1938764" y="615263"/>
                  </a:cubicBezTo>
                  <a:lnTo>
                    <a:pt x="63559" y="615263"/>
                  </a:lnTo>
                  <a:cubicBezTo>
                    <a:pt x="46702" y="615263"/>
                    <a:pt x="30536" y="608567"/>
                    <a:pt x="18616" y="596647"/>
                  </a:cubicBezTo>
                  <a:cubicBezTo>
                    <a:pt x="6696" y="584728"/>
                    <a:pt x="0" y="568561"/>
                    <a:pt x="0" y="551704"/>
                  </a:cubicBezTo>
                  <a:lnTo>
                    <a:pt x="0" y="63559"/>
                  </a:lnTo>
                  <a:cubicBezTo>
                    <a:pt x="0" y="46702"/>
                    <a:pt x="6696" y="30536"/>
                    <a:pt x="18616" y="18616"/>
                  </a:cubicBezTo>
                  <a:cubicBezTo>
                    <a:pt x="30536" y="6696"/>
                    <a:pt x="46702" y="0"/>
                    <a:pt x="63559" y="0"/>
                  </a:cubicBezTo>
                  <a:close/>
                </a:path>
              </a:pathLst>
            </a:custGeom>
            <a:solidFill>
              <a:srgbClr val="2E3034"/>
            </a:solidFill>
          </p:spPr>
        </p:sp>
        <p:sp>
          <p:nvSpPr>
            <p:cNvPr name="TextBox 5" id="5"/>
            <p:cNvSpPr txBox="true"/>
            <p:nvPr/>
          </p:nvSpPr>
          <p:spPr>
            <a:xfrm>
              <a:off x="0" y="-38100"/>
              <a:ext cx="2002323" cy="653363"/>
            </a:xfrm>
            <a:prstGeom prst="rect">
              <a:avLst/>
            </a:prstGeom>
          </p:spPr>
          <p:txBody>
            <a:bodyPr anchor="ctr" rtlCol="false" tIns="49246" lIns="49246" bIns="49246" rIns="49246"/>
            <a:lstStyle/>
            <a:p>
              <a:pPr algn="ctr">
                <a:lnSpc>
                  <a:spcPts val="2659"/>
                </a:lnSpc>
              </a:pPr>
            </a:p>
          </p:txBody>
        </p:sp>
      </p:grpSp>
      <p:sp>
        <p:nvSpPr>
          <p:cNvPr name="TextBox 6" id="6"/>
          <p:cNvSpPr txBox="true"/>
          <p:nvPr/>
        </p:nvSpPr>
        <p:spPr>
          <a:xfrm rot="0">
            <a:off x="1580466" y="7575952"/>
            <a:ext cx="5486924" cy="636114"/>
          </a:xfrm>
          <a:prstGeom prst="rect">
            <a:avLst/>
          </a:prstGeom>
        </p:spPr>
        <p:txBody>
          <a:bodyPr anchor="t" rtlCol="false" tIns="0" lIns="0" bIns="0" rIns="0">
            <a:spAutoFit/>
          </a:bodyPr>
          <a:lstStyle/>
          <a:p>
            <a:pPr algn="l">
              <a:lnSpc>
                <a:spcPts val="2461"/>
              </a:lnSpc>
            </a:pPr>
            <a:r>
              <a:rPr lang="en-US" sz="2461">
                <a:solidFill>
                  <a:srgbClr val="F6F4F1"/>
                </a:solidFill>
                <a:latin typeface="Montserrat"/>
                <a:ea typeface="Montserrat"/>
                <a:cs typeface="Montserrat"/>
                <a:sym typeface="Montserrat"/>
              </a:rPr>
              <a:t>Improve response speed and availability.</a:t>
            </a:r>
          </a:p>
        </p:txBody>
      </p:sp>
      <p:sp>
        <p:nvSpPr>
          <p:cNvPr name="TextBox 7" id="7"/>
          <p:cNvSpPr txBox="true"/>
          <p:nvPr/>
        </p:nvSpPr>
        <p:spPr>
          <a:xfrm rot="0">
            <a:off x="2053890" y="3521840"/>
            <a:ext cx="5486924" cy="636114"/>
          </a:xfrm>
          <a:prstGeom prst="rect">
            <a:avLst/>
          </a:prstGeom>
        </p:spPr>
        <p:txBody>
          <a:bodyPr anchor="t" rtlCol="false" tIns="0" lIns="0" bIns="0" rIns="0">
            <a:spAutoFit/>
          </a:bodyPr>
          <a:lstStyle/>
          <a:p>
            <a:pPr algn="l">
              <a:lnSpc>
                <a:spcPts val="2461"/>
              </a:lnSpc>
            </a:pPr>
            <a:r>
              <a:rPr lang="en-US" sz="2461">
                <a:solidFill>
                  <a:srgbClr val="F6F4F1"/>
                </a:solidFill>
                <a:latin typeface="Montserrat"/>
                <a:ea typeface="Montserrat"/>
                <a:cs typeface="Montserrat"/>
                <a:sym typeface="Montserrat"/>
              </a:rPr>
              <a:t>Enhance user engagement through AI assistance.</a:t>
            </a:r>
          </a:p>
        </p:txBody>
      </p:sp>
      <p:grpSp>
        <p:nvGrpSpPr>
          <p:cNvPr name="Group 8" id="8"/>
          <p:cNvGrpSpPr/>
          <p:nvPr/>
        </p:nvGrpSpPr>
        <p:grpSpPr>
          <a:xfrm rot="0">
            <a:off x="11729334" y="-3255586"/>
            <a:ext cx="7664470" cy="8043439"/>
            <a:chOff x="0" y="0"/>
            <a:chExt cx="774505" cy="812800"/>
          </a:xfrm>
        </p:grpSpPr>
        <p:sp>
          <p:nvSpPr>
            <p:cNvPr name="Freeform 9" id="9"/>
            <p:cNvSpPr/>
            <p:nvPr/>
          </p:nvSpPr>
          <p:spPr>
            <a:xfrm flipH="false" flipV="false" rot="0">
              <a:off x="0" y="0"/>
              <a:ext cx="774505" cy="812800"/>
            </a:xfrm>
            <a:custGeom>
              <a:avLst/>
              <a:gdLst/>
              <a:ahLst/>
              <a:cxnLst/>
              <a:rect r="r" b="b" t="t" l="l"/>
              <a:pathLst>
                <a:path h="812800" w="774505">
                  <a:moveTo>
                    <a:pt x="387252" y="0"/>
                  </a:moveTo>
                  <a:cubicBezTo>
                    <a:pt x="173379" y="0"/>
                    <a:pt x="0" y="181951"/>
                    <a:pt x="0" y="406400"/>
                  </a:cubicBezTo>
                  <a:cubicBezTo>
                    <a:pt x="0" y="630849"/>
                    <a:pt x="173379" y="812800"/>
                    <a:pt x="387252" y="812800"/>
                  </a:cubicBezTo>
                  <a:cubicBezTo>
                    <a:pt x="601126" y="812800"/>
                    <a:pt x="774505" y="630849"/>
                    <a:pt x="774505" y="406400"/>
                  </a:cubicBezTo>
                  <a:cubicBezTo>
                    <a:pt x="774505" y="181951"/>
                    <a:pt x="601126" y="0"/>
                    <a:pt x="387252" y="0"/>
                  </a:cubicBezTo>
                  <a:close/>
                </a:path>
              </a:pathLst>
            </a:custGeom>
            <a:solidFill>
              <a:srgbClr val="7A7C7C">
                <a:alpha val="26667"/>
              </a:srgbClr>
            </a:solidFill>
          </p:spPr>
        </p:sp>
        <p:sp>
          <p:nvSpPr>
            <p:cNvPr name="TextBox 10" id="10"/>
            <p:cNvSpPr txBox="true"/>
            <p:nvPr/>
          </p:nvSpPr>
          <p:spPr>
            <a:xfrm>
              <a:off x="72610" y="38100"/>
              <a:ext cx="629285"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6939084" y="532721"/>
            <a:ext cx="1056780" cy="105678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7259300" y="955029"/>
            <a:ext cx="500310" cy="321861"/>
          </a:xfrm>
          <a:prstGeom prst="rect">
            <a:avLst/>
          </a:prstGeom>
        </p:spPr>
        <p:txBody>
          <a:bodyPr anchor="t" rtlCol="false" tIns="0" lIns="0" bIns="0" rIns="0">
            <a:spAutoFit/>
          </a:bodyPr>
          <a:lstStyle/>
          <a:p>
            <a:pPr algn="ctr">
              <a:lnSpc>
                <a:spcPts val="2463"/>
              </a:lnSpc>
            </a:pPr>
            <a:r>
              <a:rPr lang="en-US" sz="2463">
                <a:solidFill>
                  <a:srgbClr val="F6F4F1"/>
                </a:solidFill>
                <a:latin typeface="Montserrat"/>
                <a:ea typeface="Montserrat"/>
                <a:cs typeface="Montserrat"/>
                <a:sym typeface="Montserrat"/>
              </a:rPr>
              <a:t>05</a:t>
            </a:r>
          </a:p>
        </p:txBody>
      </p:sp>
      <p:grpSp>
        <p:nvGrpSpPr>
          <p:cNvPr name="Group 15" id="15"/>
          <p:cNvGrpSpPr/>
          <p:nvPr/>
        </p:nvGrpSpPr>
        <p:grpSpPr>
          <a:xfrm rot="0">
            <a:off x="0" y="8025419"/>
            <a:ext cx="7664470" cy="8043439"/>
            <a:chOff x="0" y="0"/>
            <a:chExt cx="774505" cy="812800"/>
          </a:xfrm>
        </p:grpSpPr>
        <p:sp>
          <p:nvSpPr>
            <p:cNvPr name="Freeform 16" id="16"/>
            <p:cNvSpPr/>
            <p:nvPr/>
          </p:nvSpPr>
          <p:spPr>
            <a:xfrm flipH="false" flipV="false" rot="0">
              <a:off x="0" y="0"/>
              <a:ext cx="774505" cy="812800"/>
            </a:xfrm>
            <a:custGeom>
              <a:avLst/>
              <a:gdLst/>
              <a:ahLst/>
              <a:cxnLst/>
              <a:rect r="r" b="b" t="t" l="l"/>
              <a:pathLst>
                <a:path h="812800" w="774505">
                  <a:moveTo>
                    <a:pt x="387252" y="0"/>
                  </a:moveTo>
                  <a:cubicBezTo>
                    <a:pt x="173379" y="0"/>
                    <a:pt x="0" y="181951"/>
                    <a:pt x="0" y="406400"/>
                  </a:cubicBezTo>
                  <a:cubicBezTo>
                    <a:pt x="0" y="630849"/>
                    <a:pt x="173379" y="812800"/>
                    <a:pt x="387252" y="812800"/>
                  </a:cubicBezTo>
                  <a:cubicBezTo>
                    <a:pt x="601126" y="812800"/>
                    <a:pt x="774505" y="630849"/>
                    <a:pt x="774505" y="406400"/>
                  </a:cubicBezTo>
                  <a:cubicBezTo>
                    <a:pt x="774505" y="181951"/>
                    <a:pt x="601126" y="0"/>
                    <a:pt x="387252" y="0"/>
                  </a:cubicBezTo>
                  <a:close/>
                </a:path>
              </a:pathLst>
            </a:custGeom>
            <a:solidFill>
              <a:srgbClr val="7A7C7C">
                <a:alpha val="26667"/>
              </a:srgbClr>
            </a:solidFill>
          </p:spPr>
        </p:sp>
        <p:sp>
          <p:nvSpPr>
            <p:cNvPr name="TextBox 17" id="17"/>
            <p:cNvSpPr txBox="true"/>
            <p:nvPr/>
          </p:nvSpPr>
          <p:spPr>
            <a:xfrm>
              <a:off x="72610" y="38100"/>
              <a:ext cx="629285"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205924" y="7766950"/>
            <a:ext cx="6577551" cy="2021115"/>
            <a:chOff x="0" y="0"/>
            <a:chExt cx="2002323" cy="615263"/>
          </a:xfrm>
        </p:grpSpPr>
        <p:sp>
          <p:nvSpPr>
            <p:cNvPr name="Freeform 19" id="19"/>
            <p:cNvSpPr/>
            <p:nvPr/>
          </p:nvSpPr>
          <p:spPr>
            <a:xfrm flipH="false" flipV="false" rot="0">
              <a:off x="0" y="0"/>
              <a:ext cx="2002324" cy="615263"/>
            </a:xfrm>
            <a:custGeom>
              <a:avLst/>
              <a:gdLst/>
              <a:ahLst/>
              <a:cxnLst/>
              <a:rect r="r" b="b" t="t" l="l"/>
              <a:pathLst>
                <a:path h="615263" w="2002324">
                  <a:moveTo>
                    <a:pt x="63559" y="0"/>
                  </a:moveTo>
                  <a:lnTo>
                    <a:pt x="1938764" y="0"/>
                  </a:lnTo>
                  <a:cubicBezTo>
                    <a:pt x="1973867" y="0"/>
                    <a:pt x="2002324" y="28456"/>
                    <a:pt x="2002324" y="63559"/>
                  </a:cubicBezTo>
                  <a:lnTo>
                    <a:pt x="2002324" y="551704"/>
                  </a:lnTo>
                  <a:cubicBezTo>
                    <a:pt x="2002324" y="568561"/>
                    <a:pt x="1995627" y="584728"/>
                    <a:pt x="1983707" y="596647"/>
                  </a:cubicBezTo>
                  <a:cubicBezTo>
                    <a:pt x="1971788" y="608567"/>
                    <a:pt x="1955621" y="615263"/>
                    <a:pt x="1938764" y="615263"/>
                  </a:cubicBezTo>
                  <a:lnTo>
                    <a:pt x="63559" y="615263"/>
                  </a:lnTo>
                  <a:cubicBezTo>
                    <a:pt x="46702" y="615263"/>
                    <a:pt x="30536" y="608567"/>
                    <a:pt x="18616" y="596647"/>
                  </a:cubicBezTo>
                  <a:cubicBezTo>
                    <a:pt x="6696" y="584728"/>
                    <a:pt x="0" y="568561"/>
                    <a:pt x="0" y="551704"/>
                  </a:cubicBezTo>
                  <a:lnTo>
                    <a:pt x="0" y="63559"/>
                  </a:lnTo>
                  <a:cubicBezTo>
                    <a:pt x="0" y="46702"/>
                    <a:pt x="6696" y="30536"/>
                    <a:pt x="18616" y="18616"/>
                  </a:cubicBezTo>
                  <a:cubicBezTo>
                    <a:pt x="30536" y="6696"/>
                    <a:pt x="46702" y="0"/>
                    <a:pt x="63559" y="0"/>
                  </a:cubicBezTo>
                  <a:close/>
                </a:path>
              </a:pathLst>
            </a:custGeom>
            <a:solidFill>
              <a:srgbClr val="2E3034"/>
            </a:solidFill>
          </p:spPr>
        </p:sp>
        <p:sp>
          <p:nvSpPr>
            <p:cNvPr name="TextBox 20" id="20"/>
            <p:cNvSpPr txBox="true"/>
            <p:nvPr/>
          </p:nvSpPr>
          <p:spPr>
            <a:xfrm>
              <a:off x="0" y="-38100"/>
              <a:ext cx="2002323" cy="653363"/>
            </a:xfrm>
            <a:prstGeom prst="rect">
              <a:avLst/>
            </a:prstGeom>
          </p:spPr>
          <p:txBody>
            <a:bodyPr anchor="ctr" rtlCol="false" tIns="49246" lIns="49246" bIns="49246" rIns="49246"/>
            <a:lstStyle/>
            <a:p>
              <a:pPr algn="ctr">
                <a:lnSpc>
                  <a:spcPts val="2659"/>
                </a:lnSpc>
              </a:pPr>
            </a:p>
          </p:txBody>
        </p:sp>
      </p:grpSp>
      <p:sp>
        <p:nvSpPr>
          <p:cNvPr name="TextBox 21" id="21"/>
          <p:cNvSpPr txBox="true"/>
          <p:nvPr/>
        </p:nvSpPr>
        <p:spPr>
          <a:xfrm rot="0">
            <a:off x="1574014" y="8483263"/>
            <a:ext cx="5486924" cy="636114"/>
          </a:xfrm>
          <a:prstGeom prst="rect">
            <a:avLst/>
          </a:prstGeom>
        </p:spPr>
        <p:txBody>
          <a:bodyPr anchor="t" rtlCol="false" tIns="0" lIns="0" bIns="0" rIns="0">
            <a:spAutoFit/>
          </a:bodyPr>
          <a:lstStyle/>
          <a:p>
            <a:pPr algn="l">
              <a:lnSpc>
                <a:spcPts val="2461"/>
              </a:lnSpc>
            </a:pPr>
            <a:r>
              <a:rPr lang="en-US" sz="2461">
                <a:solidFill>
                  <a:srgbClr val="F6F4F1"/>
                </a:solidFill>
                <a:latin typeface="Montserrat"/>
                <a:ea typeface="Montserrat"/>
                <a:cs typeface="Montserrat"/>
                <a:sym typeface="Montserrat"/>
              </a:rPr>
              <a:t>Automate responses to common user queries.</a:t>
            </a:r>
          </a:p>
        </p:txBody>
      </p:sp>
      <p:grpSp>
        <p:nvGrpSpPr>
          <p:cNvPr name="Group 22" id="22"/>
          <p:cNvGrpSpPr/>
          <p:nvPr/>
        </p:nvGrpSpPr>
        <p:grpSpPr>
          <a:xfrm rot="0">
            <a:off x="1205924" y="5288137"/>
            <a:ext cx="6577551" cy="2021115"/>
            <a:chOff x="0" y="0"/>
            <a:chExt cx="2002323" cy="615263"/>
          </a:xfrm>
        </p:grpSpPr>
        <p:sp>
          <p:nvSpPr>
            <p:cNvPr name="Freeform 23" id="23"/>
            <p:cNvSpPr/>
            <p:nvPr/>
          </p:nvSpPr>
          <p:spPr>
            <a:xfrm flipH="false" flipV="false" rot="0">
              <a:off x="0" y="0"/>
              <a:ext cx="2002324" cy="615263"/>
            </a:xfrm>
            <a:custGeom>
              <a:avLst/>
              <a:gdLst/>
              <a:ahLst/>
              <a:cxnLst/>
              <a:rect r="r" b="b" t="t" l="l"/>
              <a:pathLst>
                <a:path h="615263" w="2002324">
                  <a:moveTo>
                    <a:pt x="63559" y="0"/>
                  </a:moveTo>
                  <a:lnTo>
                    <a:pt x="1938764" y="0"/>
                  </a:lnTo>
                  <a:cubicBezTo>
                    <a:pt x="1973867" y="0"/>
                    <a:pt x="2002324" y="28456"/>
                    <a:pt x="2002324" y="63559"/>
                  </a:cubicBezTo>
                  <a:lnTo>
                    <a:pt x="2002324" y="551704"/>
                  </a:lnTo>
                  <a:cubicBezTo>
                    <a:pt x="2002324" y="568561"/>
                    <a:pt x="1995627" y="584728"/>
                    <a:pt x="1983707" y="596647"/>
                  </a:cubicBezTo>
                  <a:cubicBezTo>
                    <a:pt x="1971788" y="608567"/>
                    <a:pt x="1955621" y="615263"/>
                    <a:pt x="1938764" y="615263"/>
                  </a:cubicBezTo>
                  <a:lnTo>
                    <a:pt x="63559" y="615263"/>
                  </a:lnTo>
                  <a:cubicBezTo>
                    <a:pt x="46702" y="615263"/>
                    <a:pt x="30536" y="608567"/>
                    <a:pt x="18616" y="596647"/>
                  </a:cubicBezTo>
                  <a:cubicBezTo>
                    <a:pt x="6696" y="584728"/>
                    <a:pt x="0" y="568561"/>
                    <a:pt x="0" y="551704"/>
                  </a:cubicBezTo>
                  <a:lnTo>
                    <a:pt x="0" y="63559"/>
                  </a:lnTo>
                  <a:cubicBezTo>
                    <a:pt x="0" y="46702"/>
                    <a:pt x="6696" y="30536"/>
                    <a:pt x="18616" y="18616"/>
                  </a:cubicBezTo>
                  <a:cubicBezTo>
                    <a:pt x="30536" y="6696"/>
                    <a:pt x="46702" y="0"/>
                    <a:pt x="63559" y="0"/>
                  </a:cubicBezTo>
                  <a:close/>
                </a:path>
              </a:pathLst>
            </a:custGeom>
            <a:solidFill>
              <a:srgbClr val="2E3034"/>
            </a:solidFill>
          </p:spPr>
        </p:sp>
        <p:sp>
          <p:nvSpPr>
            <p:cNvPr name="TextBox 24" id="24"/>
            <p:cNvSpPr txBox="true"/>
            <p:nvPr/>
          </p:nvSpPr>
          <p:spPr>
            <a:xfrm>
              <a:off x="0" y="-38100"/>
              <a:ext cx="2002323" cy="653363"/>
            </a:xfrm>
            <a:prstGeom prst="rect">
              <a:avLst/>
            </a:prstGeom>
          </p:spPr>
          <p:txBody>
            <a:bodyPr anchor="ctr" rtlCol="false" tIns="49246" lIns="49246" bIns="49246" rIns="49246"/>
            <a:lstStyle/>
            <a:p>
              <a:pPr algn="ctr">
                <a:lnSpc>
                  <a:spcPts val="2659"/>
                </a:lnSpc>
              </a:pPr>
            </a:p>
          </p:txBody>
        </p:sp>
      </p:grpSp>
      <p:sp>
        <p:nvSpPr>
          <p:cNvPr name="TextBox 25" id="25"/>
          <p:cNvSpPr txBox="true"/>
          <p:nvPr/>
        </p:nvSpPr>
        <p:spPr>
          <a:xfrm rot="0">
            <a:off x="1086919" y="5732477"/>
            <a:ext cx="6577551" cy="842391"/>
          </a:xfrm>
          <a:prstGeom prst="rect">
            <a:avLst/>
          </a:prstGeom>
        </p:spPr>
        <p:txBody>
          <a:bodyPr anchor="t" rtlCol="false" tIns="0" lIns="0" bIns="0" rIns="0">
            <a:spAutoFit/>
          </a:bodyPr>
          <a:lstStyle/>
          <a:p>
            <a:pPr algn="ctr">
              <a:lnSpc>
                <a:spcPts val="3444"/>
              </a:lnSpc>
              <a:spcBef>
                <a:spcPct val="0"/>
              </a:spcBef>
            </a:pPr>
            <a:r>
              <a:rPr lang="en-US" sz="2460">
                <a:solidFill>
                  <a:srgbClr val="FFFFFF"/>
                </a:solidFill>
                <a:latin typeface="Montserrat"/>
                <a:ea typeface="Montserrat"/>
                <a:cs typeface="Montserrat"/>
                <a:sym typeface="Montserrat"/>
              </a:rPr>
              <a:t>Reduce manual effort in customer interactions.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true" rot="0">
            <a:off x="11730023" y="-2781577"/>
            <a:ext cx="7598640" cy="5346679"/>
          </a:xfrm>
          <a:custGeom>
            <a:avLst/>
            <a:gdLst/>
            <a:ahLst/>
            <a:cxnLst/>
            <a:rect r="r" b="b" t="t" l="l"/>
            <a:pathLst>
              <a:path h="5346679" w="7598640">
                <a:moveTo>
                  <a:pt x="0" y="5346680"/>
                </a:moveTo>
                <a:lnTo>
                  <a:pt x="7598640" y="5346680"/>
                </a:lnTo>
                <a:lnTo>
                  <a:pt x="7598640" y="0"/>
                </a:lnTo>
                <a:lnTo>
                  <a:pt x="0" y="0"/>
                </a:lnTo>
                <a:lnTo>
                  <a:pt x="0" y="5346680"/>
                </a:lnTo>
                <a:close/>
              </a:path>
            </a:pathLst>
          </a:custGeom>
          <a:blipFill>
            <a:blip r:embed="rId2">
              <a:alphaModFix amt="64000"/>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6202815" y="9781644"/>
            <a:ext cx="7015926" cy="0"/>
          </a:xfrm>
          <a:prstGeom prst="line">
            <a:avLst/>
          </a:prstGeom>
          <a:ln cap="flat" w="9525">
            <a:solidFill>
              <a:srgbClr val="000000"/>
            </a:solidFill>
            <a:prstDash val="solid"/>
            <a:headEnd type="none" len="sm" w="sm"/>
            <a:tailEnd type="none" len="sm" w="sm"/>
          </a:ln>
        </p:spPr>
      </p:sp>
      <p:sp>
        <p:nvSpPr>
          <p:cNvPr name="TextBox 4" id="4"/>
          <p:cNvSpPr txBox="true"/>
          <p:nvPr/>
        </p:nvSpPr>
        <p:spPr>
          <a:xfrm rot="0">
            <a:off x="1987282" y="1767048"/>
            <a:ext cx="12861241" cy="788035"/>
          </a:xfrm>
          <a:prstGeom prst="rect">
            <a:avLst/>
          </a:prstGeom>
        </p:spPr>
        <p:txBody>
          <a:bodyPr anchor="t" rtlCol="false" tIns="0" lIns="0" bIns="0" rIns="0">
            <a:spAutoFit/>
          </a:bodyPr>
          <a:lstStyle/>
          <a:p>
            <a:pPr algn="ctr">
              <a:lnSpc>
                <a:spcPts val="5900"/>
              </a:lnSpc>
            </a:pPr>
            <a:r>
              <a:rPr lang="en-US" b="true" sz="5900">
                <a:solidFill>
                  <a:srgbClr val="000000"/>
                </a:solidFill>
                <a:latin typeface="Montserrat Bold"/>
                <a:ea typeface="Montserrat Bold"/>
                <a:cs typeface="Montserrat Bold"/>
                <a:sym typeface="Montserrat Bold"/>
              </a:rPr>
              <a:t>KEY FEATURES</a:t>
            </a:r>
          </a:p>
        </p:txBody>
      </p:sp>
      <p:grpSp>
        <p:nvGrpSpPr>
          <p:cNvPr name="Group 5" id="5"/>
          <p:cNvGrpSpPr/>
          <p:nvPr/>
        </p:nvGrpSpPr>
        <p:grpSpPr>
          <a:xfrm rot="0">
            <a:off x="16561359" y="605493"/>
            <a:ext cx="1056780" cy="105678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797613" y="1009713"/>
            <a:ext cx="584272" cy="295965"/>
          </a:xfrm>
          <a:prstGeom prst="rect">
            <a:avLst/>
          </a:prstGeom>
        </p:spPr>
        <p:txBody>
          <a:bodyPr anchor="t" rtlCol="false" tIns="0" lIns="0" bIns="0" rIns="0">
            <a:spAutoFit/>
          </a:bodyPr>
          <a:lstStyle/>
          <a:p>
            <a:pPr algn="ctr">
              <a:lnSpc>
                <a:spcPts val="2277"/>
              </a:lnSpc>
            </a:pPr>
            <a:r>
              <a:rPr lang="en-US" sz="2277">
                <a:solidFill>
                  <a:srgbClr val="F6F4F1"/>
                </a:solidFill>
                <a:latin typeface="Montserrat"/>
                <a:ea typeface="Montserrat"/>
                <a:cs typeface="Montserrat"/>
                <a:sym typeface="Montserrat"/>
              </a:rPr>
              <a:t>06</a:t>
            </a:r>
          </a:p>
        </p:txBody>
      </p:sp>
      <p:grpSp>
        <p:nvGrpSpPr>
          <p:cNvPr name="Group 9" id="9"/>
          <p:cNvGrpSpPr/>
          <p:nvPr/>
        </p:nvGrpSpPr>
        <p:grpSpPr>
          <a:xfrm rot="0">
            <a:off x="2262986" y="3756353"/>
            <a:ext cx="8431064" cy="1135548"/>
            <a:chOff x="0" y="0"/>
            <a:chExt cx="2566566" cy="345681"/>
          </a:xfrm>
        </p:grpSpPr>
        <p:sp>
          <p:nvSpPr>
            <p:cNvPr name="Freeform 10" id="10"/>
            <p:cNvSpPr/>
            <p:nvPr/>
          </p:nvSpPr>
          <p:spPr>
            <a:xfrm flipH="false" flipV="false" rot="0">
              <a:off x="0" y="0"/>
              <a:ext cx="2566566" cy="345681"/>
            </a:xfrm>
            <a:custGeom>
              <a:avLst/>
              <a:gdLst/>
              <a:ahLst/>
              <a:cxnLst/>
              <a:rect r="r" b="b" t="t" l="l"/>
              <a:pathLst>
                <a:path h="345681" w="2566566">
                  <a:moveTo>
                    <a:pt x="49586" y="0"/>
                  </a:moveTo>
                  <a:lnTo>
                    <a:pt x="2516980" y="0"/>
                  </a:lnTo>
                  <a:cubicBezTo>
                    <a:pt x="2544366" y="0"/>
                    <a:pt x="2566566" y="22200"/>
                    <a:pt x="2566566" y="49586"/>
                  </a:cubicBezTo>
                  <a:lnTo>
                    <a:pt x="2566566" y="296095"/>
                  </a:lnTo>
                  <a:cubicBezTo>
                    <a:pt x="2566566" y="309246"/>
                    <a:pt x="2561342" y="321858"/>
                    <a:pt x="2552043" y="331157"/>
                  </a:cubicBezTo>
                  <a:cubicBezTo>
                    <a:pt x="2542743" y="340457"/>
                    <a:pt x="2530131" y="345681"/>
                    <a:pt x="2516980" y="345681"/>
                  </a:cubicBezTo>
                  <a:lnTo>
                    <a:pt x="49586" y="345681"/>
                  </a:lnTo>
                  <a:cubicBezTo>
                    <a:pt x="36435" y="345681"/>
                    <a:pt x="23823" y="340457"/>
                    <a:pt x="14523" y="331157"/>
                  </a:cubicBezTo>
                  <a:cubicBezTo>
                    <a:pt x="5224" y="321858"/>
                    <a:pt x="0" y="309246"/>
                    <a:pt x="0" y="296095"/>
                  </a:cubicBezTo>
                  <a:lnTo>
                    <a:pt x="0" y="49586"/>
                  </a:lnTo>
                  <a:cubicBezTo>
                    <a:pt x="0" y="22200"/>
                    <a:pt x="22200" y="0"/>
                    <a:pt x="49586" y="0"/>
                  </a:cubicBezTo>
                  <a:close/>
                </a:path>
              </a:pathLst>
            </a:custGeom>
            <a:solidFill>
              <a:srgbClr val="2E3034"/>
            </a:solidFill>
          </p:spPr>
        </p:sp>
        <p:sp>
          <p:nvSpPr>
            <p:cNvPr name="TextBox 11" id="11"/>
            <p:cNvSpPr txBox="true"/>
            <p:nvPr/>
          </p:nvSpPr>
          <p:spPr>
            <a:xfrm>
              <a:off x="0" y="-38100"/>
              <a:ext cx="2566566" cy="383781"/>
            </a:xfrm>
            <a:prstGeom prst="rect">
              <a:avLst/>
            </a:prstGeom>
          </p:spPr>
          <p:txBody>
            <a:bodyPr anchor="ctr" rtlCol="false" tIns="49246" lIns="49246" bIns="49246" rIns="49246"/>
            <a:lstStyle/>
            <a:p>
              <a:pPr algn="ctr">
                <a:lnSpc>
                  <a:spcPts val="2659"/>
                </a:lnSpc>
              </a:pPr>
            </a:p>
          </p:txBody>
        </p:sp>
      </p:grpSp>
      <p:grpSp>
        <p:nvGrpSpPr>
          <p:cNvPr name="Group 12" id="12"/>
          <p:cNvGrpSpPr/>
          <p:nvPr/>
        </p:nvGrpSpPr>
        <p:grpSpPr>
          <a:xfrm rot="0">
            <a:off x="2262986" y="5291253"/>
            <a:ext cx="8431064" cy="1135548"/>
            <a:chOff x="0" y="0"/>
            <a:chExt cx="2566566" cy="345681"/>
          </a:xfrm>
        </p:grpSpPr>
        <p:sp>
          <p:nvSpPr>
            <p:cNvPr name="Freeform 13" id="13"/>
            <p:cNvSpPr/>
            <p:nvPr/>
          </p:nvSpPr>
          <p:spPr>
            <a:xfrm flipH="false" flipV="false" rot="0">
              <a:off x="0" y="0"/>
              <a:ext cx="2566566" cy="345681"/>
            </a:xfrm>
            <a:custGeom>
              <a:avLst/>
              <a:gdLst/>
              <a:ahLst/>
              <a:cxnLst/>
              <a:rect r="r" b="b" t="t" l="l"/>
              <a:pathLst>
                <a:path h="345681" w="2566566">
                  <a:moveTo>
                    <a:pt x="49586" y="0"/>
                  </a:moveTo>
                  <a:lnTo>
                    <a:pt x="2516980" y="0"/>
                  </a:lnTo>
                  <a:cubicBezTo>
                    <a:pt x="2544366" y="0"/>
                    <a:pt x="2566566" y="22200"/>
                    <a:pt x="2566566" y="49586"/>
                  </a:cubicBezTo>
                  <a:lnTo>
                    <a:pt x="2566566" y="296095"/>
                  </a:lnTo>
                  <a:cubicBezTo>
                    <a:pt x="2566566" y="309246"/>
                    <a:pt x="2561342" y="321858"/>
                    <a:pt x="2552043" y="331157"/>
                  </a:cubicBezTo>
                  <a:cubicBezTo>
                    <a:pt x="2542743" y="340457"/>
                    <a:pt x="2530131" y="345681"/>
                    <a:pt x="2516980" y="345681"/>
                  </a:cubicBezTo>
                  <a:lnTo>
                    <a:pt x="49586" y="345681"/>
                  </a:lnTo>
                  <a:cubicBezTo>
                    <a:pt x="36435" y="345681"/>
                    <a:pt x="23823" y="340457"/>
                    <a:pt x="14523" y="331157"/>
                  </a:cubicBezTo>
                  <a:cubicBezTo>
                    <a:pt x="5224" y="321858"/>
                    <a:pt x="0" y="309246"/>
                    <a:pt x="0" y="296095"/>
                  </a:cubicBezTo>
                  <a:lnTo>
                    <a:pt x="0" y="49586"/>
                  </a:lnTo>
                  <a:cubicBezTo>
                    <a:pt x="0" y="22200"/>
                    <a:pt x="22200" y="0"/>
                    <a:pt x="49586" y="0"/>
                  </a:cubicBezTo>
                  <a:close/>
                </a:path>
              </a:pathLst>
            </a:custGeom>
            <a:solidFill>
              <a:srgbClr val="2E3034"/>
            </a:solidFill>
          </p:spPr>
        </p:sp>
        <p:sp>
          <p:nvSpPr>
            <p:cNvPr name="TextBox 14" id="14"/>
            <p:cNvSpPr txBox="true"/>
            <p:nvPr/>
          </p:nvSpPr>
          <p:spPr>
            <a:xfrm>
              <a:off x="0" y="-38100"/>
              <a:ext cx="2566566" cy="383781"/>
            </a:xfrm>
            <a:prstGeom prst="rect">
              <a:avLst/>
            </a:prstGeom>
          </p:spPr>
          <p:txBody>
            <a:bodyPr anchor="ctr" rtlCol="false" tIns="49246" lIns="49246" bIns="49246" rIns="49246"/>
            <a:lstStyle/>
            <a:p>
              <a:pPr algn="ctr">
                <a:lnSpc>
                  <a:spcPts val="2659"/>
                </a:lnSpc>
              </a:pPr>
            </a:p>
          </p:txBody>
        </p:sp>
      </p:grpSp>
      <p:grpSp>
        <p:nvGrpSpPr>
          <p:cNvPr name="Group 15" id="15"/>
          <p:cNvGrpSpPr/>
          <p:nvPr/>
        </p:nvGrpSpPr>
        <p:grpSpPr>
          <a:xfrm rot="0">
            <a:off x="2262986" y="6836376"/>
            <a:ext cx="8431064" cy="1135548"/>
            <a:chOff x="0" y="0"/>
            <a:chExt cx="2566566" cy="345681"/>
          </a:xfrm>
        </p:grpSpPr>
        <p:sp>
          <p:nvSpPr>
            <p:cNvPr name="Freeform 16" id="16"/>
            <p:cNvSpPr/>
            <p:nvPr/>
          </p:nvSpPr>
          <p:spPr>
            <a:xfrm flipH="false" flipV="false" rot="0">
              <a:off x="0" y="0"/>
              <a:ext cx="2566566" cy="345681"/>
            </a:xfrm>
            <a:custGeom>
              <a:avLst/>
              <a:gdLst/>
              <a:ahLst/>
              <a:cxnLst/>
              <a:rect r="r" b="b" t="t" l="l"/>
              <a:pathLst>
                <a:path h="345681" w="2566566">
                  <a:moveTo>
                    <a:pt x="49586" y="0"/>
                  </a:moveTo>
                  <a:lnTo>
                    <a:pt x="2516980" y="0"/>
                  </a:lnTo>
                  <a:cubicBezTo>
                    <a:pt x="2544366" y="0"/>
                    <a:pt x="2566566" y="22200"/>
                    <a:pt x="2566566" y="49586"/>
                  </a:cubicBezTo>
                  <a:lnTo>
                    <a:pt x="2566566" y="296095"/>
                  </a:lnTo>
                  <a:cubicBezTo>
                    <a:pt x="2566566" y="309246"/>
                    <a:pt x="2561342" y="321858"/>
                    <a:pt x="2552043" y="331157"/>
                  </a:cubicBezTo>
                  <a:cubicBezTo>
                    <a:pt x="2542743" y="340457"/>
                    <a:pt x="2530131" y="345681"/>
                    <a:pt x="2516980" y="345681"/>
                  </a:cubicBezTo>
                  <a:lnTo>
                    <a:pt x="49586" y="345681"/>
                  </a:lnTo>
                  <a:cubicBezTo>
                    <a:pt x="36435" y="345681"/>
                    <a:pt x="23823" y="340457"/>
                    <a:pt x="14523" y="331157"/>
                  </a:cubicBezTo>
                  <a:cubicBezTo>
                    <a:pt x="5224" y="321858"/>
                    <a:pt x="0" y="309246"/>
                    <a:pt x="0" y="296095"/>
                  </a:cubicBezTo>
                  <a:lnTo>
                    <a:pt x="0" y="49586"/>
                  </a:lnTo>
                  <a:cubicBezTo>
                    <a:pt x="0" y="22200"/>
                    <a:pt x="22200" y="0"/>
                    <a:pt x="49586" y="0"/>
                  </a:cubicBezTo>
                  <a:close/>
                </a:path>
              </a:pathLst>
            </a:custGeom>
            <a:solidFill>
              <a:srgbClr val="2E3034"/>
            </a:solidFill>
          </p:spPr>
        </p:sp>
        <p:sp>
          <p:nvSpPr>
            <p:cNvPr name="TextBox 17" id="17"/>
            <p:cNvSpPr txBox="true"/>
            <p:nvPr/>
          </p:nvSpPr>
          <p:spPr>
            <a:xfrm>
              <a:off x="0" y="-38100"/>
              <a:ext cx="2566566" cy="383781"/>
            </a:xfrm>
            <a:prstGeom prst="rect">
              <a:avLst/>
            </a:prstGeom>
          </p:spPr>
          <p:txBody>
            <a:bodyPr anchor="ctr" rtlCol="false" tIns="49246" lIns="49246" bIns="49246" rIns="49246"/>
            <a:lstStyle/>
            <a:p>
              <a:pPr algn="ctr">
                <a:lnSpc>
                  <a:spcPts val="2659"/>
                </a:lnSpc>
              </a:pPr>
            </a:p>
          </p:txBody>
        </p:sp>
      </p:grpSp>
      <p:grpSp>
        <p:nvGrpSpPr>
          <p:cNvPr name="Group 18" id="18"/>
          <p:cNvGrpSpPr/>
          <p:nvPr/>
        </p:nvGrpSpPr>
        <p:grpSpPr>
          <a:xfrm rot="0">
            <a:off x="2262986" y="8378932"/>
            <a:ext cx="8431064" cy="1135548"/>
            <a:chOff x="0" y="0"/>
            <a:chExt cx="2566566" cy="345681"/>
          </a:xfrm>
        </p:grpSpPr>
        <p:sp>
          <p:nvSpPr>
            <p:cNvPr name="Freeform 19" id="19"/>
            <p:cNvSpPr/>
            <p:nvPr/>
          </p:nvSpPr>
          <p:spPr>
            <a:xfrm flipH="false" flipV="false" rot="0">
              <a:off x="0" y="0"/>
              <a:ext cx="2566566" cy="345681"/>
            </a:xfrm>
            <a:custGeom>
              <a:avLst/>
              <a:gdLst/>
              <a:ahLst/>
              <a:cxnLst/>
              <a:rect r="r" b="b" t="t" l="l"/>
              <a:pathLst>
                <a:path h="345681" w="2566566">
                  <a:moveTo>
                    <a:pt x="49586" y="0"/>
                  </a:moveTo>
                  <a:lnTo>
                    <a:pt x="2516980" y="0"/>
                  </a:lnTo>
                  <a:cubicBezTo>
                    <a:pt x="2544366" y="0"/>
                    <a:pt x="2566566" y="22200"/>
                    <a:pt x="2566566" y="49586"/>
                  </a:cubicBezTo>
                  <a:lnTo>
                    <a:pt x="2566566" y="296095"/>
                  </a:lnTo>
                  <a:cubicBezTo>
                    <a:pt x="2566566" y="309246"/>
                    <a:pt x="2561342" y="321858"/>
                    <a:pt x="2552043" y="331157"/>
                  </a:cubicBezTo>
                  <a:cubicBezTo>
                    <a:pt x="2542743" y="340457"/>
                    <a:pt x="2530131" y="345681"/>
                    <a:pt x="2516980" y="345681"/>
                  </a:cubicBezTo>
                  <a:lnTo>
                    <a:pt x="49586" y="345681"/>
                  </a:lnTo>
                  <a:cubicBezTo>
                    <a:pt x="36435" y="345681"/>
                    <a:pt x="23823" y="340457"/>
                    <a:pt x="14523" y="331157"/>
                  </a:cubicBezTo>
                  <a:cubicBezTo>
                    <a:pt x="5224" y="321858"/>
                    <a:pt x="0" y="309246"/>
                    <a:pt x="0" y="296095"/>
                  </a:cubicBezTo>
                  <a:lnTo>
                    <a:pt x="0" y="49586"/>
                  </a:lnTo>
                  <a:cubicBezTo>
                    <a:pt x="0" y="22200"/>
                    <a:pt x="22200" y="0"/>
                    <a:pt x="49586" y="0"/>
                  </a:cubicBezTo>
                  <a:close/>
                </a:path>
              </a:pathLst>
            </a:custGeom>
            <a:solidFill>
              <a:srgbClr val="2E3034"/>
            </a:solidFill>
          </p:spPr>
        </p:sp>
        <p:sp>
          <p:nvSpPr>
            <p:cNvPr name="TextBox 20" id="20"/>
            <p:cNvSpPr txBox="true"/>
            <p:nvPr/>
          </p:nvSpPr>
          <p:spPr>
            <a:xfrm>
              <a:off x="0" y="-38100"/>
              <a:ext cx="2566566" cy="383781"/>
            </a:xfrm>
            <a:prstGeom prst="rect">
              <a:avLst/>
            </a:prstGeom>
          </p:spPr>
          <p:txBody>
            <a:bodyPr anchor="ctr" rtlCol="false" tIns="49246" lIns="49246" bIns="49246" rIns="49246"/>
            <a:lstStyle/>
            <a:p>
              <a:pPr algn="ctr">
                <a:lnSpc>
                  <a:spcPts val="2659"/>
                </a:lnSpc>
              </a:pPr>
            </a:p>
          </p:txBody>
        </p:sp>
      </p:grpSp>
      <p:sp>
        <p:nvSpPr>
          <p:cNvPr name="TextBox 21" id="21"/>
          <p:cNvSpPr txBox="true"/>
          <p:nvPr/>
        </p:nvSpPr>
        <p:spPr>
          <a:xfrm rot="0">
            <a:off x="1987282" y="4064412"/>
            <a:ext cx="8431064" cy="471806"/>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Montserrat"/>
                <a:ea typeface="Montserrat"/>
                <a:cs typeface="Montserrat"/>
                <a:sym typeface="Montserrat"/>
              </a:rPr>
              <a:t>Real-time AI-generated responses</a:t>
            </a:r>
          </a:p>
        </p:txBody>
      </p:sp>
      <p:sp>
        <p:nvSpPr>
          <p:cNvPr name="TextBox 22" id="22"/>
          <p:cNvSpPr txBox="true"/>
          <p:nvPr/>
        </p:nvSpPr>
        <p:spPr>
          <a:xfrm rot="0">
            <a:off x="1987282" y="5604423"/>
            <a:ext cx="8431064" cy="471805"/>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Montserrat"/>
                <a:ea typeface="Montserrat"/>
                <a:cs typeface="Montserrat"/>
                <a:sym typeface="Montserrat"/>
              </a:rPr>
              <a:t>Multi-turn conversation memory</a:t>
            </a:r>
          </a:p>
        </p:txBody>
      </p:sp>
      <p:sp>
        <p:nvSpPr>
          <p:cNvPr name="TextBox 23" id="23"/>
          <p:cNvSpPr txBox="true"/>
          <p:nvPr/>
        </p:nvSpPr>
        <p:spPr>
          <a:xfrm rot="0">
            <a:off x="1987282" y="7141176"/>
            <a:ext cx="8431064" cy="471805"/>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Montserrat"/>
                <a:ea typeface="Montserrat"/>
                <a:cs typeface="Montserrat"/>
                <a:sym typeface="Montserrat"/>
              </a:rPr>
              <a:t>Customizable chatbot behaviour</a:t>
            </a:r>
          </a:p>
        </p:txBody>
      </p:sp>
      <p:sp>
        <p:nvSpPr>
          <p:cNvPr name="TextBox 24" id="24"/>
          <p:cNvSpPr txBox="true"/>
          <p:nvPr/>
        </p:nvSpPr>
        <p:spPr>
          <a:xfrm rot="0">
            <a:off x="2262986" y="8686991"/>
            <a:ext cx="8431064" cy="471805"/>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Montserrat"/>
                <a:ea typeface="Montserrat"/>
                <a:cs typeface="Montserrat"/>
                <a:sym typeface="Montserrat"/>
              </a:rPr>
              <a:t>Adjustable response creativity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true" rot="464084">
            <a:off x="11389486" y="-2766448"/>
            <a:ext cx="8629864" cy="6072286"/>
          </a:xfrm>
          <a:custGeom>
            <a:avLst/>
            <a:gdLst/>
            <a:ahLst/>
            <a:cxnLst/>
            <a:rect r="r" b="b" t="t" l="l"/>
            <a:pathLst>
              <a:path h="6072286" w="8629864">
                <a:moveTo>
                  <a:pt x="0" y="6072287"/>
                </a:moveTo>
                <a:lnTo>
                  <a:pt x="8629864" y="6072287"/>
                </a:lnTo>
                <a:lnTo>
                  <a:pt x="8629864" y="0"/>
                </a:lnTo>
                <a:lnTo>
                  <a:pt x="0" y="0"/>
                </a:lnTo>
                <a:lnTo>
                  <a:pt x="0" y="6072287"/>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96427" y="1252062"/>
            <a:ext cx="10121841" cy="800100"/>
          </a:xfrm>
          <a:prstGeom prst="rect">
            <a:avLst/>
          </a:prstGeom>
        </p:spPr>
        <p:txBody>
          <a:bodyPr anchor="t" rtlCol="false" tIns="0" lIns="0" bIns="0" rIns="0">
            <a:spAutoFit/>
          </a:bodyPr>
          <a:lstStyle/>
          <a:p>
            <a:pPr algn="r">
              <a:lnSpc>
                <a:spcPts val="6000"/>
              </a:lnSpc>
            </a:pPr>
            <a:r>
              <a:rPr lang="en-US" b="true" sz="6000">
                <a:solidFill>
                  <a:srgbClr val="000000"/>
                </a:solidFill>
                <a:latin typeface="Montserrat Bold"/>
                <a:ea typeface="Montserrat Bold"/>
                <a:cs typeface="Montserrat Bold"/>
                <a:sym typeface="Montserrat Bold"/>
              </a:rPr>
              <a:t>CONTRIBUTIONS</a:t>
            </a:r>
          </a:p>
        </p:txBody>
      </p:sp>
      <p:sp>
        <p:nvSpPr>
          <p:cNvPr name="TextBox 4" id="4"/>
          <p:cNvSpPr txBox="true"/>
          <p:nvPr/>
        </p:nvSpPr>
        <p:spPr>
          <a:xfrm rot="0">
            <a:off x="2966275" y="3689559"/>
            <a:ext cx="14092153" cy="4651786"/>
          </a:xfrm>
          <a:prstGeom prst="rect">
            <a:avLst/>
          </a:prstGeom>
        </p:spPr>
        <p:txBody>
          <a:bodyPr anchor="t" rtlCol="false" tIns="0" lIns="0" bIns="0" rIns="0">
            <a:spAutoFit/>
          </a:bodyPr>
          <a:lstStyle/>
          <a:p>
            <a:pPr algn="l" marL="659445" indent="-329722" lvl="1">
              <a:lnSpc>
                <a:spcPts val="3054"/>
              </a:lnSpc>
              <a:buFont typeface="Arial"/>
              <a:buChar char="•"/>
            </a:pPr>
            <a:r>
              <a:rPr lang="en-US" sz="3054">
                <a:solidFill>
                  <a:srgbClr val="000000"/>
                </a:solidFill>
                <a:latin typeface="Montserrat"/>
                <a:ea typeface="Montserrat"/>
                <a:cs typeface="Montserrat"/>
                <a:sym typeface="Montserrat"/>
              </a:rPr>
              <a:t>Set up project environment and dependencies</a:t>
            </a:r>
          </a:p>
          <a:p>
            <a:pPr algn="l">
              <a:lnSpc>
                <a:spcPts val="3054"/>
              </a:lnSpc>
            </a:pPr>
          </a:p>
          <a:p>
            <a:pPr algn="l" marL="659445" indent="-329722" lvl="1">
              <a:lnSpc>
                <a:spcPts val="3054"/>
              </a:lnSpc>
              <a:buFont typeface="Arial"/>
              <a:buChar char="•"/>
            </a:pPr>
            <a:r>
              <a:rPr lang="en-US" sz="3054">
                <a:solidFill>
                  <a:srgbClr val="000000"/>
                </a:solidFill>
                <a:latin typeface="Montserrat"/>
                <a:ea typeface="Montserrat"/>
                <a:cs typeface="Montserrat"/>
                <a:sym typeface="Montserrat"/>
              </a:rPr>
              <a:t>Integrated Groq API with Python application</a:t>
            </a:r>
          </a:p>
          <a:p>
            <a:pPr algn="l">
              <a:lnSpc>
                <a:spcPts val="3054"/>
              </a:lnSpc>
            </a:pPr>
          </a:p>
          <a:p>
            <a:pPr algn="l" marL="659445" indent="-329722" lvl="1">
              <a:lnSpc>
                <a:spcPts val="3054"/>
              </a:lnSpc>
              <a:buFont typeface="Arial"/>
              <a:buChar char="•"/>
            </a:pPr>
            <a:r>
              <a:rPr lang="en-US" sz="3054">
                <a:solidFill>
                  <a:srgbClr val="000000"/>
                </a:solidFill>
                <a:latin typeface="Montserrat"/>
                <a:ea typeface="Montserrat"/>
                <a:cs typeface="Montserrat"/>
                <a:sym typeface="Montserrat"/>
              </a:rPr>
              <a:t>Developed chatbot conversation logic</a:t>
            </a:r>
          </a:p>
          <a:p>
            <a:pPr algn="l">
              <a:lnSpc>
                <a:spcPts val="3054"/>
              </a:lnSpc>
            </a:pPr>
          </a:p>
          <a:p>
            <a:pPr algn="l" marL="659445" indent="-329722" lvl="1">
              <a:lnSpc>
                <a:spcPts val="3054"/>
              </a:lnSpc>
              <a:buFont typeface="Arial"/>
              <a:buChar char="•"/>
            </a:pPr>
            <a:r>
              <a:rPr lang="en-US" sz="3054">
                <a:solidFill>
                  <a:srgbClr val="000000"/>
                </a:solidFill>
                <a:latin typeface="Montserrat"/>
                <a:ea typeface="Montserrat"/>
                <a:cs typeface="Montserrat"/>
                <a:sym typeface="Montserrat"/>
              </a:rPr>
              <a:t>Implemented message history management</a:t>
            </a:r>
          </a:p>
          <a:p>
            <a:pPr algn="l">
              <a:lnSpc>
                <a:spcPts val="3054"/>
              </a:lnSpc>
            </a:pPr>
          </a:p>
          <a:p>
            <a:pPr algn="l" marL="659445" indent="-329722" lvl="1">
              <a:lnSpc>
                <a:spcPts val="3054"/>
              </a:lnSpc>
              <a:buFont typeface="Arial"/>
              <a:buChar char="•"/>
            </a:pPr>
            <a:r>
              <a:rPr lang="en-US" sz="3054">
                <a:solidFill>
                  <a:srgbClr val="000000"/>
                </a:solidFill>
                <a:latin typeface="Montserrat"/>
                <a:ea typeface="Montserrat"/>
                <a:cs typeface="Montserrat"/>
                <a:sym typeface="Montserrat"/>
              </a:rPr>
              <a:t>Tested different LLM models and parameters</a:t>
            </a:r>
          </a:p>
          <a:p>
            <a:pPr algn="l">
              <a:lnSpc>
                <a:spcPts val="3054"/>
              </a:lnSpc>
            </a:pPr>
          </a:p>
          <a:p>
            <a:pPr algn="l">
              <a:lnSpc>
                <a:spcPts val="3054"/>
              </a:lnSpc>
            </a:pPr>
          </a:p>
          <a:p>
            <a:pPr algn="l" marL="659445" indent="-329722" lvl="1">
              <a:lnSpc>
                <a:spcPts val="3054"/>
              </a:lnSpc>
              <a:buFont typeface="Arial"/>
              <a:buChar char="•"/>
            </a:pPr>
          </a:p>
        </p:txBody>
      </p:sp>
      <p:grpSp>
        <p:nvGrpSpPr>
          <p:cNvPr name="Group 5" id="5"/>
          <p:cNvGrpSpPr/>
          <p:nvPr/>
        </p:nvGrpSpPr>
        <p:grpSpPr>
          <a:xfrm rot="0">
            <a:off x="16001648" y="753239"/>
            <a:ext cx="1056780" cy="105678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237902" y="1085850"/>
            <a:ext cx="584272" cy="374343"/>
          </a:xfrm>
          <a:prstGeom prst="rect">
            <a:avLst/>
          </a:prstGeom>
        </p:spPr>
        <p:txBody>
          <a:bodyPr anchor="t" rtlCol="false" tIns="0" lIns="0" bIns="0" rIns="0">
            <a:spAutoFit/>
          </a:bodyPr>
          <a:lstStyle/>
          <a:p>
            <a:pPr algn="ctr">
              <a:lnSpc>
                <a:spcPts val="2877"/>
              </a:lnSpc>
            </a:pPr>
            <a:r>
              <a:rPr lang="en-US" sz="2877">
                <a:solidFill>
                  <a:srgbClr val="F6F4F1"/>
                </a:solidFill>
                <a:latin typeface="Montserrat"/>
                <a:ea typeface="Montserrat"/>
                <a:cs typeface="Montserrat"/>
                <a:sym typeface="Montserrat"/>
              </a:rPr>
              <a:t>07</a:t>
            </a:r>
          </a:p>
        </p:txBody>
      </p:sp>
      <p:grpSp>
        <p:nvGrpSpPr>
          <p:cNvPr name="Group 9" id="9"/>
          <p:cNvGrpSpPr/>
          <p:nvPr/>
        </p:nvGrpSpPr>
        <p:grpSpPr>
          <a:xfrm rot="0">
            <a:off x="-804219" y="2052162"/>
            <a:ext cx="2912935" cy="291293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7C7C">
                <a:alpha val="68627"/>
              </a:srgbClr>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true" rot="-2532666">
            <a:off x="-1876084" y="-2290568"/>
            <a:ext cx="8629864" cy="6072286"/>
          </a:xfrm>
          <a:custGeom>
            <a:avLst/>
            <a:gdLst/>
            <a:ahLst/>
            <a:cxnLst/>
            <a:rect r="r" b="b" t="t" l="l"/>
            <a:pathLst>
              <a:path h="6072286" w="8629864">
                <a:moveTo>
                  <a:pt x="0" y="6072286"/>
                </a:moveTo>
                <a:lnTo>
                  <a:pt x="8629865" y="6072286"/>
                </a:lnTo>
                <a:lnTo>
                  <a:pt x="8629865" y="0"/>
                </a:lnTo>
                <a:lnTo>
                  <a:pt x="0" y="0"/>
                </a:lnTo>
                <a:lnTo>
                  <a:pt x="0" y="6072286"/>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986493" y="1459455"/>
            <a:ext cx="12315014" cy="800100"/>
          </a:xfrm>
          <a:prstGeom prst="rect">
            <a:avLst/>
          </a:prstGeom>
        </p:spPr>
        <p:txBody>
          <a:bodyPr anchor="t" rtlCol="false" tIns="0" lIns="0" bIns="0" rIns="0">
            <a:spAutoFit/>
          </a:bodyPr>
          <a:lstStyle/>
          <a:p>
            <a:pPr algn="ctr">
              <a:lnSpc>
                <a:spcPts val="6000"/>
              </a:lnSpc>
            </a:pPr>
            <a:r>
              <a:rPr lang="en-US" b="true" sz="6000">
                <a:solidFill>
                  <a:srgbClr val="000000"/>
                </a:solidFill>
                <a:latin typeface="Montserrat Bold"/>
                <a:ea typeface="Montserrat Bold"/>
                <a:cs typeface="Montserrat Bold"/>
                <a:sym typeface="Montserrat Bold"/>
              </a:rPr>
              <a:t>CHALLENGES &amp; SOLUTIONS</a:t>
            </a:r>
          </a:p>
        </p:txBody>
      </p:sp>
      <p:grpSp>
        <p:nvGrpSpPr>
          <p:cNvPr name="Group 4" id="4"/>
          <p:cNvGrpSpPr/>
          <p:nvPr/>
        </p:nvGrpSpPr>
        <p:grpSpPr>
          <a:xfrm rot="0">
            <a:off x="16356090" y="745575"/>
            <a:ext cx="1056780" cy="105678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2267769" y="3811011"/>
            <a:ext cx="11641716" cy="3907289"/>
          </a:xfrm>
          <a:prstGeom prst="rect">
            <a:avLst/>
          </a:prstGeom>
        </p:spPr>
        <p:txBody>
          <a:bodyPr anchor="t" rtlCol="false" tIns="0" lIns="0" bIns="0" rIns="0">
            <a:spAutoFit/>
          </a:bodyPr>
          <a:lstStyle/>
          <a:p>
            <a:pPr algn="just" marL="826957" indent="-413479" lvl="1">
              <a:lnSpc>
                <a:spcPts val="3830"/>
              </a:lnSpc>
              <a:buFont typeface="Arial"/>
              <a:buChar char="•"/>
            </a:pPr>
            <a:r>
              <a:rPr lang="en-US" sz="3830">
                <a:solidFill>
                  <a:srgbClr val="000000"/>
                </a:solidFill>
                <a:latin typeface="Montserrat"/>
                <a:ea typeface="Montserrat"/>
                <a:cs typeface="Montserrat"/>
                <a:sym typeface="Montserrat"/>
              </a:rPr>
              <a:t>Issue with deprecated model ; solved by replacing it with llama-3.1-8b-instant</a:t>
            </a:r>
          </a:p>
          <a:p>
            <a:pPr algn="just">
              <a:lnSpc>
                <a:spcPts val="3830"/>
              </a:lnSpc>
            </a:pPr>
          </a:p>
          <a:p>
            <a:pPr algn="just">
              <a:lnSpc>
                <a:spcPts val="3830"/>
              </a:lnSpc>
            </a:pPr>
          </a:p>
          <a:p>
            <a:pPr algn="just" marL="826957" indent="-413479" lvl="1">
              <a:lnSpc>
                <a:spcPts val="3830"/>
              </a:lnSpc>
              <a:buFont typeface="Arial"/>
              <a:buChar char="•"/>
            </a:pPr>
            <a:r>
              <a:rPr lang="en-US" sz="3830">
                <a:solidFill>
                  <a:srgbClr val="000000"/>
                </a:solidFill>
                <a:latin typeface="Montserrat"/>
                <a:ea typeface="Montserrat"/>
                <a:cs typeface="Montserrat"/>
                <a:sym typeface="Montserrat"/>
              </a:rPr>
              <a:t>Response behaviour was inconsistent initially; improved it using prompt engineering and system prompts</a:t>
            </a:r>
          </a:p>
          <a:p>
            <a:pPr algn="just">
              <a:lnSpc>
                <a:spcPts val="3830"/>
              </a:lnSpc>
            </a:pPr>
          </a:p>
        </p:txBody>
      </p:sp>
      <p:sp>
        <p:nvSpPr>
          <p:cNvPr name="TextBox 8" id="8"/>
          <p:cNvSpPr txBox="true"/>
          <p:nvPr/>
        </p:nvSpPr>
        <p:spPr>
          <a:xfrm rot="0">
            <a:off x="13155776" y="6874193"/>
            <a:ext cx="3401949" cy="614661"/>
          </a:xfrm>
          <a:prstGeom prst="rect">
            <a:avLst/>
          </a:prstGeom>
        </p:spPr>
        <p:txBody>
          <a:bodyPr anchor="t" rtlCol="false" tIns="0" lIns="0" bIns="0" rIns="0">
            <a:spAutoFit/>
          </a:bodyPr>
          <a:lstStyle/>
          <a:p>
            <a:pPr algn="l">
              <a:lnSpc>
                <a:spcPts val="2384"/>
              </a:lnSpc>
            </a:pPr>
            <a:r>
              <a:rPr lang="en-US" sz="2384">
                <a:solidFill>
                  <a:srgbClr val="F6F4F1"/>
                </a:solidFill>
                <a:latin typeface="Montserrat"/>
                <a:ea typeface="Montserrat"/>
                <a:cs typeface="Montserrat"/>
                <a:sym typeface="Montserrat"/>
              </a:rPr>
              <a:t>21% Increase in Stock Prediction Accuracy</a:t>
            </a:r>
          </a:p>
        </p:txBody>
      </p:sp>
      <p:sp>
        <p:nvSpPr>
          <p:cNvPr name="TextBox 9" id="9"/>
          <p:cNvSpPr txBox="true"/>
          <p:nvPr/>
        </p:nvSpPr>
        <p:spPr>
          <a:xfrm rot="0">
            <a:off x="16592344" y="1115401"/>
            <a:ext cx="584272" cy="374343"/>
          </a:xfrm>
          <a:prstGeom prst="rect">
            <a:avLst/>
          </a:prstGeom>
        </p:spPr>
        <p:txBody>
          <a:bodyPr anchor="t" rtlCol="false" tIns="0" lIns="0" bIns="0" rIns="0">
            <a:spAutoFit/>
          </a:bodyPr>
          <a:lstStyle/>
          <a:p>
            <a:pPr algn="ctr">
              <a:lnSpc>
                <a:spcPts val="2877"/>
              </a:lnSpc>
            </a:pPr>
            <a:r>
              <a:rPr lang="en-US" sz="2877">
                <a:solidFill>
                  <a:srgbClr val="F6F4F1"/>
                </a:solidFill>
                <a:latin typeface="Montserrat"/>
                <a:ea typeface="Montserrat"/>
                <a:cs typeface="Montserrat"/>
                <a:sym typeface="Montserrat"/>
              </a:rPr>
              <a:t>08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true" rot="5400000">
            <a:off x="13300669" y="1382952"/>
            <a:ext cx="10688896" cy="7521096"/>
          </a:xfrm>
          <a:custGeom>
            <a:avLst/>
            <a:gdLst/>
            <a:ahLst/>
            <a:cxnLst/>
            <a:rect r="r" b="b" t="t" l="l"/>
            <a:pathLst>
              <a:path h="7521096" w="10688896">
                <a:moveTo>
                  <a:pt x="0" y="7521096"/>
                </a:moveTo>
                <a:lnTo>
                  <a:pt x="10688896" y="7521096"/>
                </a:lnTo>
                <a:lnTo>
                  <a:pt x="10688896" y="0"/>
                </a:lnTo>
                <a:lnTo>
                  <a:pt x="0" y="0"/>
                </a:lnTo>
                <a:lnTo>
                  <a:pt x="0" y="7521096"/>
                </a:lnTo>
                <a:close/>
              </a:path>
            </a:pathLst>
          </a:custGeom>
          <a:blipFill>
            <a:blip r:embed="rId2">
              <a:alphaModFix amt="43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944838" y="758312"/>
            <a:ext cx="1056780" cy="105678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181092" y="1128137"/>
            <a:ext cx="584272" cy="374343"/>
          </a:xfrm>
          <a:prstGeom prst="rect">
            <a:avLst/>
          </a:prstGeom>
        </p:spPr>
        <p:txBody>
          <a:bodyPr anchor="t" rtlCol="false" tIns="0" lIns="0" bIns="0" rIns="0">
            <a:spAutoFit/>
          </a:bodyPr>
          <a:lstStyle/>
          <a:p>
            <a:pPr algn="ctr">
              <a:lnSpc>
                <a:spcPts val="2877"/>
              </a:lnSpc>
            </a:pPr>
            <a:r>
              <a:rPr lang="en-US" sz="2877">
                <a:solidFill>
                  <a:srgbClr val="F6F4F1"/>
                </a:solidFill>
                <a:latin typeface="Montserrat"/>
                <a:ea typeface="Montserrat"/>
                <a:cs typeface="Montserrat"/>
                <a:sym typeface="Montserrat"/>
              </a:rPr>
              <a:t>09</a:t>
            </a:r>
          </a:p>
        </p:txBody>
      </p:sp>
      <p:sp>
        <p:nvSpPr>
          <p:cNvPr name="TextBox 7" id="7"/>
          <p:cNvSpPr txBox="true"/>
          <p:nvPr/>
        </p:nvSpPr>
        <p:spPr>
          <a:xfrm rot="0">
            <a:off x="1534668" y="1123950"/>
            <a:ext cx="13349901" cy="1477534"/>
          </a:xfrm>
          <a:prstGeom prst="rect">
            <a:avLst/>
          </a:prstGeom>
        </p:spPr>
        <p:txBody>
          <a:bodyPr anchor="t" rtlCol="false" tIns="0" lIns="0" bIns="0" rIns="0">
            <a:spAutoFit/>
          </a:bodyPr>
          <a:lstStyle/>
          <a:p>
            <a:pPr algn="l">
              <a:lnSpc>
                <a:spcPts val="5570"/>
              </a:lnSpc>
            </a:pPr>
            <a:r>
              <a:rPr lang="en-US" sz="5570">
                <a:solidFill>
                  <a:srgbClr val="000000"/>
                </a:solidFill>
                <a:latin typeface="Montserrat"/>
                <a:ea typeface="Montserrat"/>
                <a:cs typeface="Montserrat"/>
                <a:sym typeface="Montserrat"/>
              </a:rPr>
              <a:t>TASK 2 :</a:t>
            </a:r>
          </a:p>
          <a:p>
            <a:pPr algn="ctr">
              <a:lnSpc>
                <a:spcPts val="5770"/>
              </a:lnSpc>
            </a:pPr>
            <a:r>
              <a:rPr lang="en-US" sz="5770">
                <a:solidFill>
                  <a:srgbClr val="000000"/>
                </a:solidFill>
                <a:latin typeface="Montserrat"/>
                <a:ea typeface="Montserrat"/>
                <a:cs typeface="Montserrat"/>
                <a:sym typeface="Montserrat"/>
              </a:rPr>
              <a:t>        </a:t>
            </a:r>
            <a:r>
              <a:rPr lang="en-US" b="true" sz="5770">
                <a:solidFill>
                  <a:srgbClr val="000000"/>
                </a:solidFill>
                <a:latin typeface="Montserrat Bold"/>
                <a:ea typeface="Montserrat Bold"/>
                <a:cs typeface="Montserrat Bold"/>
                <a:sym typeface="Montserrat Bold"/>
              </a:rPr>
              <a:t>RAG</a:t>
            </a:r>
            <a:r>
              <a:rPr lang="en-US" sz="5770">
                <a:solidFill>
                  <a:srgbClr val="000000"/>
                </a:solidFill>
                <a:latin typeface="Montserrat"/>
                <a:ea typeface="Montserrat"/>
                <a:cs typeface="Montserrat"/>
                <a:sym typeface="Montserrat"/>
              </a:rPr>
              <a:t> </a:t>
            </a:r>
            <a:r>
              <a:rPr lang="en-US" b="true" sz="5770">
                <a:solidFill>
                  <a:srgbClr val="000000"/>
                </a:solidFill>
                <a:latin typeface="Montserrat Bold"/>
                <a:ea typeface="Montserrat Bold"/>
                <a:cs typeface="Montserrat Bold"/>
                <a:sym typeface="Montserrat Bold"/>
              </a:rPr>
              <a:t>AI CHATBOT</a:t>
            </a:r>
          </a:p>
        </p:txBody>
      </p:sp>
      <p:sp>
        <p:nvSpPr>
          <p:cNvPr name="TextBox 8" id="8"/>
          <p:cNvSpPr txBox="true"/>
          <p:nvPr/>
        </p:nvSpPr>
        <p:spPr>
          <a:xfrm rot="0">
            <a:off x="1703951" y="3567429"/>
            <a:ext cx="13011335" cy="6719571"/>
          </a:xfrm>
          <a:prstGeom prst="rect">
            <a:avLst/>
          </a:prstGeom>
        </p:spPr>
        <p:txBody>
          <a:bodyPr anchor="t" rtlCol="false" tIns="0" lIns="0" bIns="0" rIns="0">
            <a:spAutoFit/>
          </a:bodyPr>
          <a:lstStyle/>
          <a:p>
            <a:pPr algn="just" marL="690872" indent="-345436" lvl="1">
              <a:lnSpc>
                <a:spcPts val="4479"/>
              </a:lnSpc>
              <a:buFont typeface="Arial"/>
              <a:buChar char="•"/>
            </a:pPr>
            <a:r>
              <a:rPr lang="en-US" sz="3199">
                <a:solidFill>
                  <a:srgbClr val="000000"/>
                </a:solidFill>
                <a:latin typeface="Montserrat"/>
                <a:ea typeface="Montserrat"/>
                <a:cs typeface="Montserrat"/>
                <a:sym typeface="Montserrat"/>
              </a:rPr>
              <a:t>Built an AI assistant that can answer questions from uploaded PDF documents.</a:t>
            </a:r>
          </a:p>
          <a:p>
            <a:pPr algn="just">
              <a:lnSpc>
                <a:spcPts val="4479"/>
              </a:lnSpc>
            </a:pPr>
          </a:p>
          <a:p>
            <a:pPr algn="just" marL="690872" indent="-345436" lvl="1">
              <a:lnSpc>
                <a:spcPts val="4479"/>
              </a:lnSpc>
              <a:buFont typeface="Arial"/>
              <a:buChar char="•"/>
            </a:pPr>
            <a:r>
              <a:rPr lang="en-US" sz="3199">
                <a:solidFill>
                  <a:srgbClr val="000000"/>
                </a:solidFill>
                <a:latin typeface="Montserrat"/>
                <a:ea typeface="Montserrat"/>
                <a:cs typeface="Montserrat"/>
                <a:sym typeface="Montserrat"/>
              </a:rPr>
              <a:t>The system identifies the most relevant information from the uploaded documents and uses AI to generate accurate answers.</a:t>
            </a:r>
          </a:p>
          <a:p>
            <a:pPr algn="just">
              <a:lnSpc>
                <a:spcPts val="4479"/>
              </a:lnSpc>
            </a:pPr>
          </a:p>
          <a:p>
            <a:pPr algn="just" marL="690872" indent="-345436" lvl="1">
              <a:lnSpc>
                <a:spcPts val="4479"/>
              </a:lnSpc>
              <a:buFont typeface="Arial"/>
              <a:buChar char="•"/>
            </a:pPr>
            <a:r>
              <a:rPr lang="en-US" sz="3199">
                <a:solidFill>
                  <a:srgbClr val="000000"/>
                </a:solidFill>
                <a:latin typeface="Montserrat"/>
                <a:ea typeface="Montserrat"/>
                <a:cs typeface="Montserrat"/>
                <a:sym typeface="Montserrat"/>
              </a:rPr>
              <a:t>Implemented using a RAG (Retrieval-Augmented Generation) approach, where document content is retrieved first and then used by the AI to create responses.</a:t>
            </a:r>
          </a:p>
          <a:p>
            <a:pPr algn="just">
              <a:lnSpc>
                <a:spcPts val="4479"/>
              </a:lnSpc>
            </a:pPr>
          </a:p>
          <a:p>
            <a:pPr algn="just">
              <a:lnSpc>
                <a:spcPts val="447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true" rot="0">
            <a:off x="447108" y="-3760548"/>
            <a:ext cx="10688896" cy="7521096"/>
          </a:xfrm>
          <a:custGeom>
            <a:avLst/>
            <a:gdLst/>
            <a:ahLst/>
            <a:cxnLst/>
            <a:rect r="r" b="b" t="t" l="l"/>
            <a:pathLst>
              <a:path h="7521096" w="10688896">
                <a:moveTo>
                  <a:pt x="0" y="7521096"/>
                </a:moveTo>
                <a:lnTo>
                  <a:pt x="10688896" y="7521096"/>
                </a:lnTo>
                <a:lnTo>
                  <a:pt x="10688896" y="0"/>
                </a:lnTo>
                <a:lnTo>
                  <a:pt x="0" y="0"/>
                </a:lnTo>
                <a:lnTo>
                  <a:pt x="0" y="7521096"/>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874987" y="1079426"/>
            <a:ext cx="8768627" cy="8043439"/>
            <a:chOff x="0" y="0"/>
            <a:chExt cx="886081" cy="812800"/>
          </a:xfrm>
        </p:grpSpPr>
        <p:sp>
          <p:nvSpPr>
            <p:cNvPr name="Freeform 4" id="4"/>
            <p:cNvSpPr/>
            <p:nvPr/>
          </p:nvSpPr>
          <p:spPr>
            <a:xfrm flipH="false" flipV="false" rot="0">
              <a:off x="0" y="0"/>
              <a:ext cx="886081" cy="812800"/>
            </a:xfrm>
            <a:custGeom>
              <a:avLst/>
              <a:gdLst/>
              <a:ahLst/>
              <a:cxnLst/>
              <a:rect r="r" b="b" t="t" l="l"/>
              <a:pathLst>
                <a:path h="812800" w="886081">
                  <a:moveTo>
                    <a:pt x="443041" y="0"/>
                  </a:moveTo>
                  <a:cubicBezTo>
                    <a:pt x="198356" y="0"/>
                    <a:pt x="0" y="181951"/>
                    <a:pt x="0" y="406400"/>
                  </a:cubicBezTo>
                  <a:cubicBezTo>
                    <a:pt x="0" y="630849"/>
                    <a:pt x="198356" y="812800"/>
                    <a:pt x="443041" y="812800"/>
                  </a:cubicBezTo>
                  <a:cubicBezTo>
                    <a:pt x="687725" y="812800"/>
                    <a:pt x="886081" y="630849"/>
                    <a:pt x="886081" y="406400"/>
                  </a:cubicBezTo>
                  <a:cubicBezTo>
                    <a:pt x="886081" y="181951"/>
                    <a:pt x="687725" y="0"/>
                    <a:pt x="443041" y="0"/>
                  </a:cubicBezTo>
                  <a:close/>
                </a:path>
              </a:pathLst>
            </a:custGeom>
            <a:solidFill>
              <a:srgbClr val="7A7C7C">
                <a:alpha val="3922"/>
              </a:srgbClr>
            </a:solidFill>
          </p:spPr>
        </p:sp>
        <p:sp>
          <p:nvSpPr>
            <p:cNvPr name="TextBox 5" id="5"/>
            <p:cNvSpPr txBox="true"/>
            <p:nvPr/>
          </p:nvSpPr>
          <p:spPr>
            <a:xfrm>
              <a:off x="83070" y="38100"/>
              <a:ext cx="719941" cy="69850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557648" y="1102360"/>
            <a:ext cx="14128039" cy="802640"/>
          </a:xfrm>
          <a:prstGeom prst="rect">
            <a:avLst/>
          </a:prstGeom>
        </p:spPr>
        <p:txBody>
          <a:bodyPr anchor="t" rtlCol="false" tIns="0" lIns="0" bIns="0" rIns="0">
            <a:spAutoFit/>
          </a:bodyPr>
          <a:lstStyle/>
          <a:p>
            <a:pPr algn="r">
              <a:lnSpc>
                <a:spcPts val="6099"/>
              </a:lnSpc>
            </a:pPr>
            <a:r>
              <a:rPr lang="en-US" b="true" sz="6099">
                <a:solidFill>
                  <a:srgbClr val="000000"/>
                </a:solidFill>
                <a:latin typeface="Montserrat Bold"/>
                <a:ea typeface="Montserrat Bold"/>
                <a:cs typeface="Montserrat Bold"/>
                <a:sym typeface="Montserrat Bold"/>
              </a:rPr>
              <a:t>BUSINESS PURPOSE &amp; FEATURES</a:t>
            </a:r>
          </a:p>
        </p:txBody>
      </p:sp>
      <p:sp>
        <p:nvSpPr>
          <p:cNvPr name="TextBox 7" id="7"/>
          <p:cNvSpPr txBox="true"/>
          <p:nvPr/>
        </p:nvSpPr>
        <p:spPr>
          <a:xfrm rot="0">
            <a:off x="1931953" y="2932353"/>
            <a:ext cx="14424094" cy="7922161"/>
          </a:xfrm>
          <a:prstGeom prst="rect">
            <a:avLst/>
          </a:prstGeom>
        </p:spPr>
        <p:txBody>
          <a:bodyPr anchor="t" rtlCol="false" tIns="0" lIns="0" bIns="0" rIns="0">
            <a:spAutoFit/>
          </a:bodyPr>
          <a:lstStyle/>
          <a:p>
            <a:pPr algn="just">
              <a:lnSpc>
                <a:spcPts val="4346"/>
              </a:lnSpc>
            </a:pPr>
            <a:r>
              <a:rPr lang="en-US" sz="3104" b="true">
                <a:solidFill>
                  <a:srgbClr val="000000"/>
                </a:solidFill>
                <a:latin typeface="Montserrat Bold"/>
                <a:ea typeface="Montserrat Bold"/>
                <a:cs typeface="Montserrat Bold"/>
                <a:sym typeface="Montserrat Bold"/>
              </a:rPr>
              <a:t>Business Purpose</a:t>
            </a:r>
          </a:p>
          <a:p>
            <a:pPr algn="just" marL="670317" indent="-335158" lvl="1">
              <a:lnSpc>
                <a:spcPts val="4346"/>
              </a:lnSpc>
              <a:buFont typeface="Arial"/>
              <a:buChar char="•"/>
            </a:pPr>
            <a:r>
              <a:rPr lang="en-US" sz="3104">
                <a:solidFill>
                  <a:srgbClr val="000000"/>
                </a:solidFill>
                <a:latin typeface="Montserrat"/>
                <a:ea typeface="Montserrat"/>
                <a:cs typeface="Montserrat"/>
                <a:sym typeface="Montserrat"/>
              </a:rPr>
              <a:t>Reduce the time required to search through large documents.</a:t>
            </a:r>
          </a:p>
          <a:p>
            <a:pPr algn="just" marL="670317" indent="-335158" lvl="1">
              <a:lnSpc>
                <a:spcPts val="4346"/>
              </a:lnSpc>
              <a:buFont typeface="Arial"/>
              <a:buChar char="•"/>
            </a:pPr>
            <a:r>
              <a:rPr lang="en-US" sz="3104">
                <a:solidFill>
                  <a:srgbClr val="000000"/>
                </a:solidFill>
                <a:latin typeface="Montserrat"/>
                <a:ea typeface="Montserrat"/>
                <a:cs typeface="Montserrat"/>
                <a:sym typeface="Montserrat"/>
              </a:rPr>
              <a:t>Provide quick and accurate answers from uploaded PDFs.</a:t>
            </a:r>
          </a:p>
          <a:p>
            <a:pPr algn="just" marL="670317" indent="-335158" lvl="1">
              <a:lnSpc>
                <a:spcPts val="4346"/>
              </a:lnSpc>
              <a:buFont typeface="Arial"/>
              <a:buChar char="•"/>
            </a:pPr>
            <a:r>
              <a:rPr lang="en-US" sz="3104">
                <a:solidFill>
                  <a:srgbClr val="000000"/>
                </a:solidFill>
                <a:latin typeface="Montserrat"/>
                <a:ea typeface="Montserrat"/>
                <a:cs typeface="Montserrat"/>
                <a:sym typeface="Montserrat"/>
              </a:rPr>
              <a:t>Improve access to information and knowledge within documents.</a:t>
            </a:r>
          </a:p>
          <a:p>
            <a:pPr algn="just" marL="670317" indent="-335158" lvl="1">
              <a:lnSpc>
                <a:spcPts val="4346"/>
              </a:lnSpc>
              <a:buFont typeface="Arial"/>
              <a:buChar char="•"/>
            </a:pPr>
            <a:r>
              <a:rPr lang="en-US" sz="3104">
                <a:solidFill>
                  <a:srgbClr val="000000"/>
                </a:solidFill>
                <a:latin typeface="Montserrat"/>
                <a:ea typeface="Montserrat"/>
                <a:cs typeface="Montserrat"/>
                <a:sym typeface="Montserrat"/>
              </a:rPr>
              <a:t>Enhance productivity by minimizing manual document review.</a:t>
            </a:r>
          </a:p>
          <a:p>
            <a:pPr algn="just">
              <a:lnSpc>
                <a:spcPts val="4346"/>
              </a:lnSpc>
            </a:pPr>
            <a:r>
              <a:rPr lang="en-US" sz="3104" b="true">
                <a:solidFill>
                  <a:srgbClr val="000000"/>
                </a:solidFill>
                <a:latin typeface="Montserrat Bold"/>
                <a:ea typeface="Montserrat Bold"/>
                <a:cs typeface="Montserrat Bold"/>
                <a:sym typeface="Montserrat Bold"/>
              </a:rPr>
              <a:t>Key Features </a:t>
            </a:r>
          </a:p>
          <a:p>
            <a:pPr algn="just" marL="670317" indent="-335158" lvl="1">
              <a:lnSpc>
                <a:spcPts val="4688"/>
              </a:lnSpc>
              <a:buFont typeface="Arial"/>
              <a:buChar char="•"/>
            </a:pPr>
            <a:r>
              <a:rPr lang="en-US" sz="3104">
                <a:solidFill>
                  <a:srgbClr val="000000"/>
                </a:solidFill>
                <a:latin typeface="Montserrat"/>
                <a:ea typeface="Montserrat"/>
                <a:cs typeface="Montserrat"/>
                <a:sym typeface="Montserrat"/>
              </a:rPr>
              <a:t>single or multiple PDF documents are supported.</a:t>
            </a:r>
          </a:p>
          <a:p>
            <a:pPr algn="just" marL="670317" indent="-335158" lvl="1">
              <a:lnSpc>
                <a:spcPts val="4688"/>
              </a:lnSpc>
              <a:buFont typeface="Arial"/>
              <a:buChar char="•"/>
            </a:pPr>
            <a:r>
              <a:rPr lang="en-US" sz="3104">
                <a:solidFill>
                  <a:srgbClr val="000000"/>
                </a:solidFill>
                <a:latin typeface="Montserrat"/>
                <a:ea typeface="Montserrat"/>
                <a:cs typeface="Montserrat"/>
                <a:sym typeface="Montserrat"/>
              </a:rPr>
              <a:t>Semantic search.</a:t>
            </a:r>
          </a:p>
          <a:p>
            <a:pPr algn="just" marL="670317" indent="-335158" lvl="1">
              <a:lnSpc>
                <a:spcPts val="4688"/>
              </a:lnSpc>
              <a:buFont typeface="Arial"/>
              <a:buChar char="•"/>
            </a:pPr>
            <a:r>
              <a:rPr lang="en-US" sz="3104">
                <a:solidFill>
                  <a:srgbClr val="000000"/>
                </a:solidFill>
                <a:latin typeface="Montserrat"/>
                <a:ea typeface="Montserrat"/>
                <a:cs typeface="Montserrat"/>
                <a:sym typeface="Montserrat"/>
              </a:rPr>
              <a:t>Context-aware AI-generated responses.</a:t>
            </a:r>
          </a:p>
          <a:p>
            <a:pPr algn="just" marL="670317" indent="-335158" lvl="1">
              <a:lnSpc>
                <a:spcPts val="4688"/>
              </a:lnSpc>
              <a:buFont typeface="Arial"/>
              <a:buChar char="•"/>
            </a:pPr>
            <a:r>
              <a:rPr lang="en-US" sz="3104">
                <a:solidFill>
                  <a:srgbClr val="000000"/>
                </a:solidFill>
                <a:latin typeface="Montserrat"/>
                <a:ea typeface="Montserrat"/>
                <a:cs typeface="Montserrat"/>
                <a:sym typeface="Montserrat"/>
              </a:rPr>
              <a:t>Chat history for maintaining conversation flow.</a:t>
            </a:r>
          </a:p>
          <a:p>
            <a:pPr algn="just" marL="670317" indent="-335158" lvl="1">
              <a:lnSpc>
                <a:spcPts val="4688"/>
              </a:lnSpc>
              <a:buFont typeface="Arial"/>
              <a:buChar char="•"/>
            </a:pPr>
            <a:r>
              <a:rPr lang="en-US" sz="3104">
                <a:solidFill>
                  <a:srgbClr val="000000"/>
                </a:solidFill>
                <a:latin typeface="Montserrat"/>
                <a:ea typeface="Montserrat"/>
                <a:cs typeface="Montserrat"/>
                <a:sym typeface="Montserrat"/>
              </a:rPr>
              <a:t>Source chunk display .</a:t>
            </a:r>
          </a:p>
          <a:p>
            <a:pPr algn="just" marL="670317" indent="-335158" lvl="1">
              <a:lnSpc>
                <a:spcPts val="4688"/>
              </a:lnSpc>
              <a:buFont typeface="Arial"/>
              <a:buChar char="•"/>
            </a:pPr>
            <a:r>
              <a:rPr lang="en-US" sz="3104">
                <a:solidFill>
                  <a:srgbClr val="000000"/>
                </a:solidFill>
                <a:latin typeface="Montserrat"/>
                <a:ea typeface="Montserrat"/>
                <a:cs typeface="Montserrat"/>
                <a:sym typeface="Montserrat"/>
              </a:rPr>
              <a:t>User-friendly Streamlit interface.</a:t>
            </a:r>
          </a:p>
          <a:p>
            <a:pPr algn="just">
              <a:lnSpc>
                <a:spcPts val="4346"/>
              </a:lnSpc>
            </a:pPr>
          </a:p>
          <a:p>
            <a:pPr algn="just">
              <a:lnSpc>
                <a:spcPts val="4346"/>
              </a:lnSpc>
            </a:pPr>
          </a:p>
        </p:txBody>
      </p:sp>
      <p:grpSp>
        <p:nvGrpSpPr>
          <p:cNvPr name="Group 8" id="8"/>
          <p:cNvGrpSpPr/>
          <p:nvPr/>
        </p:nvGrpSpPr>
        <p:grpSpPr>
          <a:xfrm rot="0">
            <a:off x="17070529" y="537258"/>
            <a:ext cx="1056780" cy="105678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7306783" y="920861"/>
            <a:ext cx="584272" cy="374343"/>
          </a:xfrm>
          <a:prstGeom prst="rect">
            <a:avLst/>
          </a:prstGeom>
        </p:spPr>
        <p:txBody>
          <a:bodyPr anchor="t" rtlCol="false" tIns="0" lIns="0" bIns="0" rIns="0">
            <a:spAutoFit/>
          </a:bodyPr>
          <a:lstStyle/>
          <a:p>
            <a:pPr algn="ctr">
              <a:lnSpc>
                <a:spcPts val="2877"/>
              </a:lnSpc>
            </a:pPr>
            <a:r>
              <a:rPr lang="en-US" sz="2877">
                <a:solidFill>
                  <a:srgbClr val="F6F4F1"/>
                </a:solidFill>
                <a:latin typeface="Montserrat"/>
                <a:ea typeface="Montserrat"/>
                <a:cs typeface="Montserrat"/>
                <a:sym typeface="Montserrat"/>
              </a:rPr>
              <a:t>10</a:t>
            </a:r>
          </a:p>
        </p:txBody>
      </p:sp>
      <p:grpSp>
        <p:nvGrpSpPr>
          <p:cNvPr name="Group 12" id="12"/>
          <p:cNvGrpSpPr/>
          <p:nvPr/>
        </p:nvGrpSpPr>
        <p:grpSpPr>
          <a:xfrm rot="0">
            <a:off x="12576089" y="1295140"/>
            <a:ext cx="597795" cy="59779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7C7C">
                <a:alpha val="12941"/>
              </a:srgbClr>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grpSp>
        <p:nvGrpSpPr>
          <p:cNvPr name="Group 2" id="2"/>
          <p:cNvGrpSpPr/>
          <p:nvPr/>
        </p:nvGrpSpPr>
        <p:grpSpPr>
          <a:xfrm rot="0">
            <a:off x="-5279387" y="7319588"/>
            <a:ext cx="8768627" cy="8043439"/>
            <a:chOff x="0" y="0"/>
            <a:chExt cx="886081" cy="812800"/>
          </a:xfrm>
        </p:grpSpPr>
        <p:sp>
          <p:nvSpPr>
            <p:cNvPr name="Freeform 3" id="3"/>
            <p:cNvSpPr/>
            <p:nvPr/>
          </p:nvSpPr>
          <p:spPr>
            <a:xfrm flipH="false" flipV="false" rot="0">
              <a:off x="0" y="0"/>
              <a:ext cx="886081" cy="812800"/>
            </a:xfrm>
            <a:custGeom>
              <a:avLst/>
              <a:gdLst/>
              <a:ahLst/>
              <a:cxnLst/>
              <a:rect r="r" b="b" t="t" l="l"/>
              <a:pathLst>
                <a:path h="812800" w="886081">
                  <a:moveTo>
                    <a:pt x="443041" y="0"/>
                  </a:moveTo>
                  <a:cubicBezTo>
                    <a:pt x="198356" y="0"/>
                    <a:pt x="0" y="181951"/>
                    <a:pt x="0" y="406400"/>
                  </a:cubicBezTo>
                  <a:cubicBezTo>
                    <a:pt x="0" y="630849"/>
                    <a:pt x="198356" y="812800"/>
                    <a:pt x="443041" y="812800"/>
                  </a:cubicBezTo>
                  <a:cubicBezTo>
                    <a:pt x="687725" y="812800"/>
                    <a:pt x="886081" y="630849"/>
                    <a:pt x="886081" y="406400"/>
                  </a:cubicBezTo>
                  <a:cubicBezTo>
                    <a:pt x="886081" y="181951"/>
                    <a:pt x="687725" y="0"/>
                    <a:pt x="443041" y="0"/>
                  </a:cubicBezTo>
                  <a:close/>
                </a:path>
              </a:pathLst>
            </a:custGeom>
            <a:solidFill>
              <a:srgbClr val="7A7C7C">
                <a:alpha val="23922"/>
              </a:srgbClr>
            </a:solidFill>
          </p:spPr>
        </p:sp>
        <p:sp>
          <p:nvSpPr>
            <p:cNvPr name="TextBox 4" id="4"/>
            <p:cNvSpPr txBox="true"/>
            <p:nvPr/>
          </p:nvSpPr>
          <p:spPr>
            <a:xfrm>
              <a:off x="83070" y="38100"/>
              <a:ext cx="719941" cy="698500"/>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Object 5" id="5"/>
          <p:cNvGraphicFramePr/>
          <p:nvPr/>
        </p:nvGraphicFramePr>
        <p:xfrm>
          <a:off x="3489239" y="3171946"/>
          <a:ext cx="3771900" cy="4400550"/>
        </p:xfrm>
        <a:graphic>
          <a:graphicData uri="http://schemas.openxmlformats.org/presentationml/2006/ole">
            <p:oleObj imgW="4648200" imgH="5270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3288926" y="962025"/>
            <a:ext cx="13048797" cy="1180465"/>
          </a:xfrm>
          <a:prstGeom prst="rect">
            <a:avLst/>
          </a:prstGeom>
        </p:spPr>
        <p:txBody>
          <a:bodyPr anchor="t" rtlCol="false" tIns="0" lIns="0" bIns="0" rIns="0">
            <a:spAutoFit/>
          </a:bodyPr>
          <a:lstStyle/>
          <a:p>
            <a:pPr algn="l">
              <a:lnSpc>
                <a:spcPts val="4759"/>
              </a:lnSpc>
            </a:pPr>
            <a:r>
              <a:rPr lang="en-US" sz="3399" b="true">
                <a:solidFill>
                  <a:srgbClr val="000000"/>
                </a:solidFill>
                <a:latin typeface="Canva Sans Bold"/>
                <a:ea typeface="Canva Sans Bold"/>
                <a:cs typeface="Canva Sans Bold"/>
                <a:sym typeface="Canva Sans Bold"/>
              </a:rPr>
              <a:t>Technologies used :</a:t>
            </a:r>
          </a:p>
          <a:p>
            <a:pPr algn="l">
              <a:lnSpc>
                <a:spcPts val="4759"/>
              </a:lnSpc>
            </a:pPr>
          </a:p>
        </p:txBody>
      </p:sp>
      <p:grpSp>
        <p:nvGrpSpPr>
          <p:cNvPr name="Group 7" id="7"/>
          <p:cNvGrpSpPr/>
          <p:nvPr/>
        </p:nvGrpSpPr>
        <p:grpSpPr>
          <a:xfrm rot="0">
            <a:off x="17070529" y="537258"/>
            <a:ext cx="774942" cy="77494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r>
                <a:rPr lang="en-US" sz="1899">
                  <a:solidFill>
                    <a:srgbClr val="FFFFFF"/>
                  </a:solidFill>
                  <a:latin typeface="Montserrat"/>
                  <a:ea typeface="Montserrat"/>
                  <a:cs typeface="Montserrat"/>
                  <a:sym typeface="Montserrat"/>
                </a:rPr>
                <a:t>11</a:t>
              </a:r>
            </a:p>
          </p:txBody>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2370815" y="1863866"/>
            <a:ext cx="14026158" cy="6910131"/>
          </a:xfrm>
          <a:prstGeom prst="rect">
            <a:avLst/>
          </a:prstGeom>
        </p:spPr>
        <p:txBody>
          <a:bodyPr anchor="t" rtlCol="false" tIns="0" lIns="0" bIns="0" rIns="0">
            <a:spAutoFit/>
          </a:bodyPr>
          <a:lstStyle/>
          <a:p>
            <a:pPr algn="ctr">
              <a:lnSpc>
                <a:spcPts val="8881"/>
              </a:lnSpc>
              <a:spcBef>
                <a:spcPct val="0"/>
              </a:spcBef>
            </a:pPr>
            <a:r>
              <a:rPr lang="en-US" b="true" sz="6344">
                <a:solidFill>
                  <a:srgbClr val="000000"/>
                </a:solidFill>
                <a:latin typeface="Montserrat Bold"/>
                <a:ea typeface="Montserrat Bold"/>
                <a:cs typeface="Montserrat Bold"/>
                <a:sym typeface="Montserrat Bold"/>
              </a:rPr>
              <a:t>CONTRIBUTIONS</a:t>
            </a:r>
          </a:p>
          <a:p>
            <a:pPr algn="ctr">
              <a:lnSpc>
                <a:spcPts val="8881"/>
              </a:lnSpc>
              <a:spcBef>
                <a:spcPct val="0"/>
              </a:spcBef>
            </a:pPr>
          </a:p>
          <a:p>
            <a:pPr algn="l" marL="820652" indent="-410326" lvl="1">
              <a:lnSpc>
                <a:spcPts val="5321"/>
              </a:lnSpc>
              <a:buFont typeface="Arial"/>
              <a:buChar char="•"/>
            </a:pPr>
            <a:r>
              <a:rPr lang="en-US" sz="3801">
                <a:solidFill>
                  <a:srgbClr val="000000"/>
                </a:solidFill>
                <a:latin typeface="Montserrat"/>
                <a:ea typeface="Montserrat"/>
                <a:cs typeface="Montserrat"/>
                <a:sym typeface="Montserrat"/>
              </a:rPr>
              <a:t>Developed the RAG pipeline </a:t>
            </a:r>
          </a:p>
          <a:p>
            <a:pPr algn="l" marL="820652" indent="-410326" lvl="1">
              <a:lnSpc>
                <a:spcPts val="5321"/>
              </a:lnSpc>
              <a:buFont typeface="Arial"/>
              <a:buChar char="•"/>
            </a:pPr>
            <a:r>
              <a:rPr lang="en-US" sz="3801">
                <a:solidFill>
                  <a:srgbClr val="000000"/>
                </a:solidFill>
                <a:latin typeface="Montserrat"/>
                <a:ea typeface="Montserrat"/>
                <a:cs typeface="Montserrat"/>
                <a:sym typeface="Montserrat"/>
              </a:rPr>
              <a:t>Implemented PDF processing and document retrieval.</a:t>
            </a:r>
          </a:p>
          <a:p>
            <a:pPr algn="l" marL="820652" indent="-410326" lvl="1">
              <a:lnSpc>
                <a:spcPts val="5321"/>
              </a:lnSpc>
              <a:buFont typeface="Arial"/>
              <a:buChar char="•"/>
            </a:pPr>
            <a:r>
              <a:rPr lang="en-US" sz="3801">
                <a:solidFill>
                  <a:srgbClr val="000000"/>
                </a:solidFill>
                <a:latin typeface="Montserrat"/>
                <a:ea typeface="Montserrat"/>
                <a:cs typeface="Montserrat"/>
                <a:sym typeface="Montserrat"/>
              </a:rPr>
              <a:t>Integrated Groq API for AI-generated responses.</a:t>
            </a:r>
          </a:p>
          <a:p>
            <a:pPr algn="l" marL="820652" indent="-410326" lvl="1">
              <a:lnSpc>
                <a:spcPts val="5321"/>
              </a:lnSpc>
              <a:buFont typeface="Arial"/>
              <a:buChar char="•"/>
            </a:pPr>
            <a:r>
              <a:rPr lang="en-US" sz="3801">
                <a:solidFill>
                  <a:srgbClr val="000000"/>
                </a:solidFill>
                <a:latin typeface="Montserrat"/>
                <a:ea typeface="Montserrat"/>
                <a:cs typeface="Montserrat"/>
                <a:sym typeface="Montserrat"/>
              </a:rPr>
              <a:t>Built the Streamlit user interface.</a:t>
            </a:r>
          </a:p>
          <a:p>
            <a:pPr algn="l" marL="820652" indent="-410326" lvl="1">
              <a:lnSpc>
                <a:spcPts val="5321"/>
              </a:lnSpc>
              <a:buFont typeface="Arial"/>
              <a:buChar char="•"/>
            </a:pPr>
            <a:r>
              <a:rPr lang="en-US" sz="3801">
                <a:solidFill>
                  <a:srgbClr val="000000"/>
                </a:solidFill>
                <a:latin typeface="Montserrat"/>
                <a:ea typeface="Montserrat"/>
                <a:cs typeface="Montserrat"/>
                <a:sym typeface="Montserrat"/>
              </a:rPr>
              <a:t>Added chat history and source reference features.</a:t>
            </a:r>
          </a:p>
          <a:p>
            <a:pPr algn="l" marL="820652" indent="-410326" lvl="1">
              <a:lnSpc>
                <a:spcPts val="5321"/>
              </a:lnSpc>
              <a:buFont typeface="Arial"/>
              <a:buChar char="•"/>
            </a:pPr>
            <a:r>
              <a:rPr lang="en-US" sz="3801">
                <a:solidFill>
                  <a:srgbClr val="000000"/>
                </a:solidFill>
                <a:latin typeface="Montserrat"/>
                <a:ea typeface="Montserrat"/>
                <a:cs typeface="Montserrat"/>
                <a:sym typeface="Montserrat"/>
              </a:rPr>
              <a:t>Optimized retrieval and answer accuracy.</a:t>
            </a:r>
          </a:p>
          <a:p>
            <a:pPr algn="l" marL="820652" indent="-410326" lvl="1">
              <a:lnSpc>
                <a:spcPts val="5321"/>
              </a:lnSpc>
              <a:buFont typeface="Arial"/>
              <a:buChar char="•"/>
            </a:pPr>
            <a:r>
              <a:rPr lang="en-US" sz="3801">
                <a:solidFill>
                  <a:srgbClr val="000000"/>
                </a:solidFill>
                <a:latin typeface="Montserrat"/>
                <a:ea typeface="Montserrat"/>
                <a:cs typeface="Montserrat"/>
                <a:sym typeface="Montserrat"/>
              </a:rPr>
              <a:t>Implemented persistent ChromaDB storage </a:t>
            </a:r>
          </a:p>
        </p:txBody>
      </p:sp>
      <p:grpSp>
        <p:nvGrpSpPr>
          <p:cNvPr name="Group 3" id="3"/>
          <p:cNvGrpSpPr/>
          <p:nvPr/>
        </p:nvGrpSpPr>
        <p:grpSpPr>
          <a:xfrm rot="0">
            <a:off x="17140988" y="537258"/>
            <a:ext cx="704483" cy="70448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r>
                <a:rPr lang="en-US" sz="1899">
                  <a:solidFill>
                    <a:srgbClr val="FFFFFF"/>
                  </a:solidFill>
                  <a:latin typeface="Montserrat"/>
                  <a:ea typeface="Montserrat"/>
                  <a:cs typeface="Montserrat"/>
                  <a:sym typeface="Montserrat"/>
                </a:rPr>
                <a:t>12</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2929940" y="2267367"/>
            <a:ext cx="13196709" cy="4006037"/>
          </a:xfrm>
          <a:prstGeom prst="rect">
            <a:avLst/>
          </a:prstGeom>
        </p:spPr>
        <p:txBody>
          <a:bodyPr anchor="t" rtlCol="false" tIns="0" lIns="0" bIns="0" rIns="0">
            <a:spAutoFit/>
          </a:bodyPr>
          <a:lstStyle/>
          <a:p>
            <a:pPr algn="ctr">
              <a:lnSpc>
                <a:spcPts val="8400"/>
              </a:lnSpc>
            </a:pPr>
            <a:r>
              <a:rPr lang="en-US" sz="6000" b="true">
                <a:solidFill>
                  <a:srgbClr val="000000"/>
                </a:solidFill>
                <a:latin typeface="Montserrat Bold"/>
                <a:ea typeface="Montserrat Bold"/>
                <a:cs typeface="Montserrat Bold"/>
                <a:sym typeface="Montserrat Bold"/>
              </a:rPr>
              <a:t>CHALLENGES  &amp; SOLUTIONS </a:t>
            </a:r>
          </a:p>
          <a:p>
            <a:pPr algn="l">
              <a:lnSpc>
                <a:spcPts val="3029"/>
              </a:lnSpc>
            </a:pPr>
          </a:p>
          <a:p>
            <a:pPr algn="l">
              <a:lnSpc>
                <a:spcPts val="3029"/>
              </a:lnSpc>
            </a:pPr>
          </a:p>
          <a:p>
            <a:pPr algn="l">
              <a:lnSpc>
                <a:spcPts val="3029"/>
              </a:lnSpc>
            </a:pPr>
          </a:p>
          <a:p>
            <a:pPr algn="l" marL="553570" indent="-276785" lvl="1">
              <a:lnSpc>
                <a:spcPts val="3589"/>
              </a:lnSpc>
              <a:buFont typeface="Arial"/>
              <a:buChar char="•"/>
            </a:pPr>
            <a:r>
              <a:rPr lang="en-US" sz="2564">
                <a:solidFill>
                  <a:srgbClr val="000000"/>
                </a:solidFill>
                <a:latin typeface="Montserrat"/>
                <a:ea typeface="Montserrat"/>
                <a:cs typeface="Montserrat"/>
                <a:sym typeface="Montserrat"/>
              </a:rPr>
              <a:t>Implemented persistent ChromaDB storage to retain document data across sessions.</a:t>
            </a:r>
          </a:p>
          <a:p>
            <a:pPr algn="l" marL="553570" indent="-276785" lvl="1">
              <a:lnSpc>
                <a:spcPts val="3589"/>
              </a:lnSpc>
              <a:buFont typeface="Arial"/>
              <a:buChar char="•"/>
            </a:pPr>
            <a:r>
              <a:rPr lang="en-US" sz="2564">
                <a:solidFill>
                  <a:srgbClr val="000000"/>
                </a:solidFill>
                <a:latin typeface="Montserrat"/>
                <a:ea typeface="Montserrat"/>
                <a:cs typeface="Montserrat"/>
                <a:sym typeface="Montserrat"/>
              </a:rPr>
              <a:t>Fixed issues with newly uploaded PDFs not being indexed correctly.</a:t>
            </a:r>
          </a:p>
          <a:p>
            <a:pPr algn="l" marL="553570" indent="-276785" lvl="1">
              <a:lnSpc>
                <a:spcPts val="3589"/>
              </a:lnSpc>
              <a:buFont typeface="Arial"/>
              <a:buChar char="•"/>
            </a:pPr>
            <a:r>
              <a:rPr lang="en-US" sz="2564">
                <a:solidFill>
                  <a:srgbClr val="000000"/>
                </a:solidFill>
                <a:latin typeface="Montserrat"/>
                <a:ea typeface="Montserrat"/>
                <a:cs typeface="Montserrat"/>
                <a:sym typeface="Montserrat"/>
              </a:rPr>
              <a:t>Reduced inaccurate responses by improving retrieval and prompt design.</a:t>
            </a:r>
          </a:p>
        </p:txBody>
      </p:sp>
      <p:sp>
        <p:nvSpPr>
          <p:cNvPr name="Freeform 3" id="3"/>
          <p:cNvSpPr/>
          <p:nvPr/>
        </p:nvSpPr>
        <p:spPr>
          <a:xfrm flipH="false" flipV="true" rot="5400000">
            <a:off x="13924738" y="1382952"/>
            <a:ext cx="10688896" cy="7521096"/>
          </a:xfrm>
          <a:custGeom>
            <a:avLst/>
            <a:gdLst/>
            <a:ahLst/>
            <a:cxnLst/>
            <a:rect r="r" b="b" t="t" l="l"/>
            <a:pathLst>
              <a:path h="7521096" w="10688896">
                <a:moveTo>
                  <a:pt x="0" y="7521096"/>
                </a:moveTo>
                <a:lnTo>
                  <a:pt x="10688897" y="7521096"/>
                </a:lnTo>
                <a:lnTo>
                  <a:pt x="10688897" y="0"/>
                </a:lnTo>
                <a:lnTo>
                  <a:pt x="0" y="0"/>
                </a:lnTo>
                <a:lnTo>
                  <a:pt x="0" y="7521096"/>
                </a:lnTo>
                <a:close/>
              </a:path>
            </a:pathLst>
          </a:custGeom>
          <a:blipFill>
            <a:blip r:embed="rId2">
              <a:alphaModFix amt="43999"/>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140988" y="537258"/>
            <a:ext cx="704483" cy="70448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r>
                <a:rPr lang="en-US" sz="1899">
                  <a:solidFill>
                    <a:srgbClr val="FFFFFF"/>
                  </a:solidFill>
                  <a:latin typeface="Montserrat"/>
                  <a:ea typeface="Montserrat"/>
                  <a:cs typeface="Montserrat"/>
                  <a:sym typeface="Montserrat"/>
                </a:rPr>
                <a:t>13</a:t>
              </a:r>
            </a:p>
          </p:txBody>
        </p:sp>
      </p:grpSp>
    </p:spTree>
  </p:cSld>
  <p:clrMapOvr>
    <a:masterClrMapping/>
  </p:clrMapOvr>
</p:sld>
</file>

<file path=ppt/slides/slide14.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2236576" y="638175"/>
            <a:ext cx="14481185" cy="8209598"/>
          </a:xfrm>
          <a:prstGeom prst="rect">
            <a:avLst/>
          </a:prstGeom>
        </p:spPr>
        <p:txBody>
          <a:bodyPr anchor="t" rtlCol="false" tIns="0" lIns="0" bIns="0" rIns="0">
            <a:spAutoFit/>
          </a:bodyPr>
          <a:lstStyle/>
          <a:p>
            <a:pPr algn="ctr">
              <a:lnSpc>
                <a:spcPts val="11340"/>
              </a:lnSpc>
            </a:pPr>
            <a:r>
              <a:rPr lang="en-US" b="true" sz="6000">
                <a:solidFill>
                  <a:srgbClr val="000000"/>
                </a:solidFill>
                <a:latin typeface="Montserrat Bold"/>
                <a:ea typeface="Montserrat Bold"/>
                <a:cs typeface="Montserrat Bold"/>
                <a:sym typeface="Montserrat Bold"/>
              </a:rPr>
              <a:t>PROJECT OUTCOME</a:t>
            </a:r>
          </a:p>
          <a:p>
            <a:pPr algn="ctr">
              <a:lnSpc>
                <a:spcPts val="11340"/>
              </a:lnSpc>
            </a:pPr>
          </a:p>
          <a:p>
            <a:pPr algn="l" marL="539746" indent="-269873" lvl="1">
              <a:lnSpc>
                <a:spcPts val="4724"/>
              </a:lnSpc>
              <a:buFont typeface="Arial"/>
              <a:buChar char="•"/>
            </a:pPr>
            <a:r>
              <a:rPr lang="en-US" sz="2499">
                <a:solidFill>
                  <a:srgbClr val="000000"/>
                </a:solidFill>
                <a:latin typeface="Montserrat"/>
                <a:ea typeface="Montserrat"/>
                <a:cs typeface="Montserrat"/>
                <a:sym typeface="Montserrat"/>
              </a:rPr>
              <a:t>Successfully built and tested a Retrieval-Augmented Generation (RAG) AI system.</a:t>
            </a:r>
          </a:p>
          <a:p>
            <a:pPr algn="l" marL="539746" indent="-269873" lvl="1">
              <a:lnSpc>
                <a:spcPts val="4724"/>
              </a:lnSpc>
              <a:buFont typeface="Arial"/>
              <a:buChar char="•"/>
            </a:pPr>
            <a:r>
              <a:rPr lang="en-US" sz="2499">
                <a:solidFill>
                  <a:srgbClr val="000000"/>
                </a:solidFill>
                <a:latin typeface="Montserrat"/>
                <a:ea typeface="Montserrat"/>
                <a:cs typeface="Montserrat"/>
                <a:sym typeface="Montserrat"/>
              </a:rPr>
              <a:t>Implemented document-based question answering using PDF content instead of relying solely on LLM knowledge.</a:t>
            </a:r>
          </a:p>
          <a:p>
            <a:pPr algn="l" marL="539746" indent="-269873" lvl="1">
              <a:lnSpc>
                <a:spcPts val="4724"/>
              </a:lnSpc>
              <a:buFont typeface="Arial"/>
              <a:buChar char="•"/>
            </a:pPr>
            <a:r>
              <a:rPr lang="en-US" sz="2499">
                <a:solidFill>
                  <a:srgbClr val="000000"/>
                </a:solidFill>
                <a:latin typeface="Montserrat"/>
                <a:ea typeface="Montserrat"/>
                <a:cs typeface="Montserrat"/>
                <a:sym typeface="Montserrat"/>
              </a:rPr>
              <a:t>Integrated semantic search, embeddings, and ChromaDB for efficient information retrieval.</a:t>
            </a:r>
          </a:p>
          <a:p>
            <a:pPr algn="l" marL="539746" indent="-269873" lvl="1">
              <a:lnSpc>
                <a:spcPts val="4724"/>
              </a:lnSpc>
              <a:buFont typeface="Arial"/>
              <a:buChar char="•"/>
            </a:pPr>
            <a:r>
              <a:rPr lang="en-US" sz="2499">
                <a:solidFill>
                  <a:srgbClr val="000000"/>
                </a:solidFill>
                <a:latin typeface="Montserrat"/>
                <a:ea typeface="Montserrat"/>
                <a:cs typeface="Montserrat"/>
                <a:sym typeface="Montserrat"/>
              </a:rPr>
              <a:t>Added advanced features including multiple PDF support, chat history memory, source chunk display, and persistent database storage.</a:t>
            </a:r>
          </a:p>
          <a:p>
            <a:pPr algn="l" marL="539746" indent="-269873" lvl="1">
              <a:lnSpc>
                <a:spcPts val="4724"/>
              </a:lnSpc>
              <a:buFont typeface="Arial"/>
              <a:buChar char="•"/>
            </a:pPr>
            <a:r>
              <a:rPr lang="en-US" sz="2499">
                <a:solidFill>
                  <a:srgbClr val="000000"/>
                </a:solidFill>
                <a:latin typeface="Montserrat"/>
                <a:ea typeface="Montserrat"/>
                <a:cs typeface="Montserrat"/>
                <a:sym typeface="Montserrat"/>
              </a:rPr>
              <a:t>Evaluated and improved system performance by experimenting with chunk size, retrieval settings, and prompt design.</a:t>
            </a:r>
          </a:p>
        </p:txBody>
      </p:sp>
      <p:grpSp>
        <p:nvGrpSpPr>
          <p:cNvPr name="Group 3" id="3"/>
          <p:cNvGrpSpPr/>
          <p:nvPr/>
        </p:nvGrpSpPr>
        <p:grpSpPr>
          <a:xfrm rot="0">
            <a:off x="17140988" y="537258"/>
            <a:ext cx="704483" cy="70448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r>
                <a:rPr lang="en-US" sz="1899">
                  <a:solidFill>
                    <a:srgbClr val="FFFFFF"/>
                  </a:solidFill>
                  <a:latin typeface="Montserrat"/>
                  <a:ea typeface="Montserrat"/>
                  <a:cs typeface="Montserrat"/>
                  <a:sym typeface="Montserrat"/>
                </a:rPr>
                <a:t>14</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false" rot="0">
            <a:off x="9331439" y="2229538"/>
            <a:ext cx="7493718" cy="3784327"/>
          </a:xfrm>
          <a:custGeom>
            <a:avLst/>
            <a:gdLst/>
            <a:ahLst/>
            <a:cxnLst/>
            <a:rect r="r" b="b" t="t" l="l"/>
            <a:pathLst>
              <a:path h="3784327" w="7493718">
                <a:moveTo>
                  <a:pt x="0" y="0"/>
                </a:moveTo>
                <a:lnTo>
                  <a:pt x="7493717" y="0"/>
                </a:lnTo>
                <a:lnTo>
                  <a:pt x="7493717" y="3784328"/>
                </a:lnTo>
                <a:lnTo>
                  <a:pt x="0" y="3784328"/>
                </a:lnTo>
                <a:lnTo>
                  <a:pt x="0" y="0"/>
                </a:lnTo>
                <a:close/>
              </a:path>
            </a:pathLst>
          </a:custGeom>
          <a:blipFill>
            <a:blip r:embed="rId2"/>
            <a:stretch>
              <a:fillRect l="0" t="0" r="0" b="0"/>
            </a:stretch>
          </a:blipFill>
        </p:spPr>
      </p:sp>
      <p:sp>
        <p:nvSpPr>
          <p:cNvPr name="Freeform 3" id="3"/>
          <p:cNvSpPr/>
          <p:nvPr/>
        </p:nvSpPr>
        <p:spPr>
          <a:xfrm flipH="false" flipV="false" rot="0">
            <a:off x="1379587" y="2229538"/>
            <a:ext cx="7549780" cy="3784327"/>
          </a:xfrm>
          <a:custGeom>
            <a:avLst/>
            <a:gdLst/>
            <a:ahLst/>
            <a:cxnLst/>
            <a:rect r="r" b="b" t="t" l="l"/>
            <a:pathLst>
              <a:path h="3784327" w="7549780">
                <a:moveTo>
                  <a:pt x="0" y="0"/>
                </a:moveTo>
                <a:lnTo>
                  <a:pt x="7549781" y="0"/>
                </a:lnTo>
                <a:lnTo>
                  <a:pt x="7549781" y="3784328"/>
                </a:lnTo>
                <a:lnTo>
                  <a:pt x="0" y="3784328"/>
                </a:lnTo>
                <a:lnTo>
                  <a:pt x="0" y="0"/>
                </a:lnTo>
                <a:close/>
              </a:path>
            </a:pathLst>
          </a:custGeom>
          <a:blipFill>
            <a:blip r:embed="rId3"/>
            <a:stretch>
              <a:fillRect l="0" t="0" r="0" b="0"/>
            </a:stretch>
          </a:blipFill>
        </p:spPr>
      </p:sp>
      <p:sp>
        <p:nvSpPr>
          <p:cNvPr name="Freeform 4" id="4"/>
          <p:cNvSpPr/>
          <p:nvPr/>
        </p:nvSpPr>
        <p:spPr>
          <a:xfrm flipH="false" flipV="false" rot="0">
            <a:off x="5220299" y="6170195"/>
            <a:ext cx="7857998" cy="3968289"/>
          </a:xfrm>
          <a:custGeom>
            <a:avLst/>
            <a:gdLst/>
            <a:ahLst/>
            <a:cxnLst/>
            <a:rect r="r" b="b" t="t" l="l"/>
            <a:pathLst>
              <a:path h="3968289" w="7857998">
                <a:moveTo>
                  <a:pt x="0" y="0"/>
                </a:moveTo>
                <a:lnTo>
                  <a:pt x="7857999" y="0"/>
                </a:lnTo>
                <a:lnTo>
                  <a:pt x="7857999" y="3968289"/>
                </a:lnTo>
                <a:lnTo>
                  <a:pt x="0" y="3968289"/>
                </a:lnTo>
                <a:lnTo>
                  <a:pt x="0" y="0"/>
                </a:lnTo>
                <a:close/>
              </a:path>
            </a:pathLst>
          </a:custGeom>
          <a:blipFill>
            <a:blip r:embed="rId4"/>
            <a:stretch>
              <a:fillRect l="0" t="0" r="0" b="0"/>
            </a:stretch>
          </a:blipFill>
        </p:spPr>
      </p:sp>
      <p:sp>
        <p:nvSpPr>
          <p:cNvPr name="TextBox 5" id="5"/>
          <p:cNvSpPr txBox="true"/>
          <p:nvPr/>
        </p:nvSpPr>
        <p:spPr>
          <a:xfrm rot="0">
            <a:off x="6337459" y="679872"/>
            <a:ext cx="5613082" cy="1028700"/>
          </a:xfrm>
          <a:prstGeom prst="rect">
            <a:avLst/>
          </a:prstGeom>
        </p:spPr>
        <p:txBody>
          <a:bodyPr anchor="t" rtlCol="false" tIns="0" lIns="0" bIns="0" rIns="0">
            <a:spAutoFit/>
          </a:bodyPr>
          <a:lstStyle/>
          <a:p>
            <a:pPr algn="ctr">
              <a:lnSpc>
                <a:spcPts val="8400"/>
              </a:lnSpc>
            </a:pPr>
            <a:r>
              <a:rPr lang="en-US" sz="6000" b="true">
                <a:solidFill>
                  <a:srgbClr val="000000"/>
                </a:solidFill>
                <a:latin typeface="Canva Sans Bold"/>
                <a:ea typeface="Canva Sans Bold"/>
                <a:cs typeface="Canva Sans Bold"/>
                <a:sym typeface="Canva Sans Bold"/>
              </a:rPr>
              <a:t>SCREENSHOTS</a:t>
            </a:r>
          </a:p>
        </p:txBody>
      </p:sp>
      <p:grpSp>
        <p:nvGrpSpPr>
          <p:cNvPr name="Group 6" id="6"/>
          <p:cNvGrpSpPr/>
          <p:nvPr/>
        </p:nvGrpSpPr>
        <p:grpSpPr>
          <a:xfrm rot="0">
            <a:off x="17140988" y="537258"/>
            <a:ext cx="704483" cy="70448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r>
                <a:rPr lang="en-US" sz="1899">
                  <a:solidFill>
                    <a:srgbClr val="FFFFFF"/>
                  </a:solidFill>
                  <a:latin typeface="Montserrat"/>
                  <a:ea typeface="Montserrat"/>
                  <a:cs typeface="Montserrat"/>
                  <a:sym typeface="Montserrat"/>
                </a:rPr>
                <a:t>15</a:t>
              </a:r>
            </a:p>
          </p:txBody>
        </p:sp>
      </p:grpSp>
    </p:spTree>
  </p:cSld>
  <p:clrMapOvr>
    <a:masterClrMapping/>
  </p:clrMapOvr>
</p:sld>
</file>

<file path=ppt/slides/slide16.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2154046" y="1345574"/>
            <a:ext cx="14613264" cy="7566720"/>
          </a:xfrm>
          <a:prstGeom prst="rect">
            <a:avLst/>
          </a:prstGeom>
        </p:spPr>
        <p:txBody>
          <a:bodyPr anchor="t" rtlCol="false" tIns="0" lIns="0" bIns="0" rIns="0">
            <a:spAutoFit/>
          </a:bodyPr>
          <a:lstStyle/>
          <a:p>
            <a:pPr algn="ctr">
              <a:lnSpc>
                <a:spcPts val="8616"/>
              </a:lnSpc>
            </a:pPr>
            <a:r>
              <a:rPr lang="en-US" sz="6154" b="true">
                <a:solidFill>
                  <a:srgbClr val="000000"/>
                </a:solidFill>
                <a:latin typeface="Montserrat Bold"/>
                <a:ea typeface="Montserrat Bold"/>
                <a:cs typeface="Montserrat Bold"/>
                <a:sym typeface="Montserrat Bold"/>
              </a:rPr>
              <a:t>CONCLUSION</a:t>
            </a:r>
          </a:p>
          <a:p>
            <a:pPr algn="ctr">
              <a:lnSpc>
                <a:spcPts val="4096"/>
              </a:lnSpc>
            </a:pPr>
          </a:p>
          <a:p>
            <a:pPr algn="l">
              <a:lnSpc>
                <a:spcPts val="4769"/>
              </a:lnSpc>
            </a:pPr>
            <a:r>
              <a:rPr lang="en-US" sz="2925">
                <a:solidFill>
                  <a:srgbClr val="000000"/>
                </a:solidFill>
                <a:latin typeface="Montserrat"/>
                <a:ea typeface="Montserrat"/>
                <a:cs typeface="Montserrat"/>
                <a:sym typeface="Montserrat"/>
              </a:rPr>
              <a:t>Successfully developed and enhanced a Retrieval-Augmented Generation (RAG) AI system that enables users to upload PDF documents and receive accurate, context-aware answers through a chatbot interface. </a:t>
            </a:r>
          </a:p>
          <a:p>
            <a:pPr algn="l">
              <a:lnSpc>
                <a:spcPts val="4769"/>
              </a:lnSpc>
            </a:pPr>
            <a:r>
              <a:rPr lang="en-US" sz="2925">
                <a:solidFill>
                  <a:srgbClr val="000000"/>
                </a:solidFill>
                <a:latin typeface="Montserrat"/>
                <a:ea typeface="Montserrat"/>
                <a:cs typeface="Montserrat"/>
                <a:sym typeface="Montserrat"/>
              </a:rPr>
              <a:t>The system was built using Python, Groq API, LangChain, ChromaDB, HuggingFace Embeddings, and Streamlit, combining document retrieval with AI-powered response generation. By implementing features such as semantic search, multiple PDF support, chat history, source chunk display, and persistent storage, the project demonstrated how Generative AI can be used to simplify information retrieval and improve access to knowledge from large documents.</a:t>
            </a:r>
          </a:p>
        </p:txBody>
      </p:sp>
      <p:grpSp>
        <p:nvGrpSpPr>
          <p:cNvPr name="Group 3" id="3"/>
          <p:cNvGrpSpPr/>
          <p:nvPr/>
        </p:nvGrpSpPr>
        <p:grpSpPr>
          <a:xfrm rot="0">
            <a:off x="17140988" y="537258"/>
            <a:ext cx="704483" cy="70448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4E47"/>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r>
                <a:rPr lang="en-US" sz="1899">
                  <a:solidFill>
                    <a:srgbClr val="FFFFFF"/>
                  </a:solidFill>
                  <a:latin typeface="Montserrat"/>
                  <a:ea typeface="Montserrat"/>
                  <a:cs typeface="Montserrat"/>
                  <a:sym typeface="Montserrat"/>
                </a:rPr>
                <a:t>16</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grpSp>
        <p:nvGrpSpPr>
          <p:cNvPr name="Group 2" id="2"/>
          <p:cNvGrpSpPr/>
          <p:nvPr/>
        </p:nvGrpSpPr>
        <p:grpSpPr>
          <a:xfrm rot="0">
            <a:off x="-2688116" y="1214861"/>
            <a:ext cx="7664470" cy="8043439"/>
            <a:chOff x="0" y="0"/>
            <a:chExt cx="774505" cy="812800"/>
          </a:xfrm>
        </p:grpSpPr>
        <p:sp>
          <p:nvSpPr>
            <p:cNvPr name="Freeform 3" id="3"/>
            <p:cNvSpPr/>
            <p:nvPr/>
          </p:nvSpPr>
          <p:spPr>
            <a:xfrm flipH="false" flipV="false" rot="0">
              <a:off x="0" y="0"/>
              <a:ext cx="774505" cy="812800"/>
            </a:xfrm>
            <a:custGeom>
              <a:avLst/>
              <a:gdLst/>
              <a:ahLst/>
              <a:cxnLst/>
              <a:rect r="r" b="b" t="t" l="l"/>
              <a:pathLst>
                <a:path h="812800" w="774505">
                  <a:moveTo>
                    <a:pt x="387252" y="0"/>
                  </a:moveTo>
                  <a:cubicBezTo>
                    <a:pt x="173379" y="0"/>
                    <a:pt x="0" y="181951"/>
                    <a:pt x="0" y="406400"/>
                  </a:cubicBezTo>
                  <a:cubicBezTo>
                    <a:pt x="0" y="630849"/>
                    <a:pt x="173379" y="812800"/>
                    <a:pt x="387252" y="812800"/>
                  </a:cubicBezTo>
                  <a:cubicBezTo>
                    <a:pt x="601126" y="812800"/>
                    <a:pt x="774505" y="630849"/>
                    <a:pt x="774505" y="406400"/>
                  </a:cubicBezTo>
                  <a:cubicBezTo>
                    <a:pt x="774505" y="181951"/>
                    <a:pt x="601126" y="0"/>
                    <a:pt x="387252" y="0"/>
                  </a:cubicBezTo>
                  <a:close/>
                </a:path>
              </a:pathLst>
            </a:custGeom>
            <a:solidFill>
              <a:srgbClr val="7A7C7C">
                <a:alpha val="25882"/>
              </a:srgbClr>
            </a:solidFill>
          </p:spPr>
        </p:sp>
        <p:sp>
          <p:nvSpPr>
            <p:cNvPr name="TextBox 4" id="4"/>
            <p:cNvSpPr txBox="true"/>
            <p:nvPr/>
          </p:nvSpPr>
          <p:spPr>
            <a:xfrm>
              <a:off x="72610" y="38100"/>
              <a:ext cx="629285" cy="69850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4976354" y="2976336"/>
            <a:ext cx="9836305" cy="4914468"/>
          </a:xfrm>
          <a:prstGeom prst="rect">
            <a:avLst/>
          </a:prstGeom>
        </p:spPr>
        <p:txBody>
          <a:bodyPr anchor="t" rtlCol="false" tIns="0" lIns="0" bIns="0" rIns="0">
            <a:spAutoFit/>
          </a:bodyPr>
          <a:lstStyle/>
          <a:p>
            <a:pPr algn="l">
              <a:lnSpc>
                <a:spcPts val="18935"/>
              </a:lnSpc>
            </a:pPr>
            <a:r>
              <a:rPr lang="en-US" sz="18935">
                <a:solidFill>
                  <a:srgbClr val="000000"/>
                </a:solidFill>
                <a:latin typeface="Montserrat"/>
                <a:ea typeface="Montserrat"/>
                <a:cs typeface="Montserrat"/>
                <a:sym typeface="Montserrat"/>
              </a:rPr>
              <a:t>THANK YOU</a:t>
            </a:r>
          </a:p>
        </p:txBody>
      </p:sp>
      <p:sp>
        <p:nvSpPr>
          <p:cNvPr name="Freeform 6" id="6"/>
          <p:cNvSpPr/>
          <p:nvPr/>
        </p:nvSpPr>
        <p:spPr>
          <a:xfrm flipH="false" flipV="true" rot="0">
            <a:off x="10557974" y="-5122425"/>
            <a:ext cx="10688896" cy="7521096"/>
          </a:xfrm>
          <a:custGeom>
            <a:avLst/>
            <a:gdLst/>
            <a:ahLst/>
            <a:cxnLst/>
            <a:rect r="r" b="b" t="t" l="l"/>
            <a:pathLst>
              <a:path h="7521096" w="10688896">
                <a:moveTo>
                  <a:pt x="0" y="7521096"/>
                </a:moveTo>
                <a:lnTo>
                  <a:pt x="10688896" y="7521096"/>
                </a:lnTo>
                <a:lnTo>
                  <a:pt x="10688896" y="0"/>
                </a:lnTo>
                <a:lnTo>
                  <a:pt x="0" y="0"/>
                </a:lnTo>
                <a:lnTo>
                  <a:pt x="0" y="7521096"/>
                </a:lnTo>
                <a:close/>
              </a:path>
            </a:pathLst>
          </a:custGeom>
          <a:blipFill>
            <a:blip r:embed="rId2">
              <a:alphaModFix amt="31999"/>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DAHLV4u24mI</dc:identifier>
  <dcterms:modified xsi:type="dcterms:W3CDTF">2011-08-01T06:04:30Z</dcterms:modified>
  <cp:revision>1</cp:revision>
  <dc:title>AI-Powered Chat Systems using Groq API</dc:title>
</cp:coreProperties>
</file>